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4476"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4476" y="0"/>
            <a:ext cx="6094476" cy="54864"/>
          </a:xfrm>
          <a:prstGeom prst="rect">
            <a:avLst/>
          </a:prstGeom>
          <a:solidFill>
            <a:srgbClr val="7C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914400"/>
            <a:ext cx="2011680" cy="2011680"/>
          </a:xfrm>
          <a:prstGeom prst="ellipse">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4800" b="1">
                <a:solidFill>
                  <a:srgbClr val="FFFFFF"/>
                </a:solidFill>
                <a:latin typeface="Segoe UI Symbol"/>
              </a:rPr>
              <a:t>🛡</a:t>
            </a:r>
          </a:p>
        </p:txBody>
      </p:sp>
      <p:sp>
        <p:nvSpPr>
          <p:cNvPr id="6" name="TextBox 5"/>
          <p:cNvSpPr txBox="1"/>
          <p:nvPr/>
        </p:nvSpPr>
        <p:spPr>
          <a:xfrm>
            <a:off x="320040" y="3108960"/>
            <a:ext cx="3200400" cy="640080"/>
          </a:xfrm>
          <a:prstGeom prst="rect">
            <a:avLst/>
          </a:prstGeom>
          <a:noFill/>
        </p:spPr>
        <p:txBody>
          <a:bodyPr wrap="square">
            <a:spAutoFit/>
          </a:bodyPr>
          <a:lstStyle/>
          <a:p>
            <a:pPr algn="ctr"/>
            <a:r>
              <a:rPr sz="2800" b="1" i="0">
                <a:solidFill>
                  <a:srgbClr val="00D4FF"/>
                </a:solidFill>
                <a:latin typeface="Segoe UI"/>
              </a:rPr>
              <a:t>RECON NDS</a:t>
            </a:r>
          </a:p>
        </p:txBody>
      </p:sp>
      <p:sp>
        <p:nvSpPr>
          <p:cNvPr id="7" name="TextBox 6"/>
          <p:cNvSpPr txBox="1"/>
          <p:nvPr/>
        </p:nvSpPr>
        <p:spPr>
          <a:xfrm>
            <a:off x="320040" y="3703320"/>
            <a:ext cx="3200400" cy="411480"/>
          </a:xfrm>
          <a:prstGeom prst="rect">
            <a:avLst/>
          </a:prstGeom>
          <a:noFill/>
        </p:spPr>
        <p:txBody>
          <a:bodyPr wrap="square">
            <a:spAutoFit/>
          </a:bodyPr>
          <a:lstStyle/>
          <a:p>
            <a:pPr algn="ctr"/>
            <a:r>
              <a:rPr sz="1300" b="0" i="0">
                <a:solidFill>
                  <a:srgbClr val="B8C5D6"/>
                </a:solidFill>
                <a:latin typeface="Segoe UI"/>
              </a:rPr>
              <a:t>Network Device Scanner</a:t>
            </a:r>
          </a:p>
        </p:txBody>
      </p:sp>
      <p:sp>
        <p:nvSpPr>
          <p:cNvPr id="8" name="Rectangle 7"/>
          <p:cNvSpPr/>
          <p:nvPr/>
        </p:nvSpPr>
        <p:spPr>
          <a:xfrm>
            <a:off x="365760" y="4206240"/>
            <a:ext cx="3108960" cy="2743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389120"/>
            <a:ext cx="3200400" cy="320040"/>
          </a:xfrm>
          <a:prstGeom prst="rect">
            <a:avLst/>
          </a:prstGeom>
          <a:noFill/>
        </p:spPr>
        <p:txBody>
          <a:bodyPr wrap="square">
            <a:spAutoFit/>
          </a:bodyPr>
          <a:lstStyle/>
          <a:p>
            <a:pPr algn="l"/>
            <a:r>
              <a:rPr sz="1100" b="0" i="0">
                <a:solidFill>
                  <a:srgbClr val="647A96"/>
                </a:solidFill>
                <a:latin typeface="Segoe UI"/>
              </a:rPr>
              <a:t>Presented by:</a:t>
            </a:r>
          </a:p>
        </p:txBody>
      </p:sp>
      <p:sp>
        <p:nvSpPr>
          <p:cNvPr id="10" name="TextBox 9"/>
          <p:cNvSpPr txBox="1"/>
          <p:nvPr/>
        </p:nvSpPr>
        <p:spPr>
          <a:xfrm>
            <a:off x="365760" y="4663440"/>
            <a:ext cx="3200400" cy="640080"/>
          </a:xfrm>
          <a:prstGeom prst="rect">
            <a:avLst/>
          </a:prstGeom>
          <a:noFill/>
        </p:spPr>
        <p:txBody>
          <a:bodyPr wrap="square">
            <a:spAutoFit/>
          </a:bodyPr>
          <a:lstStyle/>
          <a:p>
            <a:pPr algn="l"/>
            <a:r>
              <a:rPr sz="1300" b="1" i="0">
                <a:solidFill>
                  <a:srgbClr val="FFFFFF"/>
                </a:solidFill>
                <a:latin typeface="Segoe UI"/>
              </a:rPr>
              <a:t>BS Information Technology
Network Security Track</a:t>
            </a:r>
          </a:p>
        </p:txBody>
      </p:sp>
      <p:sp>
        <p:nvSpPr>
          <p:cNvPr id="11" name="TextBox 10"/>
          <p:cNvSpPr txBox="1"/>
          <p:nvPr/>
        </p:nvSpPr>
        <p:spPr>
          <a:xfrm>
            <a:off x="4206240" y="548640"/>
            <a:ext cx="7589520" cy="411480"/>
          </a:xfrm>
          <a:prstGeom prst="rect">
            <a:avLst/>
          </a:prstGeom>
          <a:noFill/>
        </p:spPr>
        <p:txBody>
          <a:bodyPr wrap="square">
            <a:spAutoFit/>
          </a:bodyPr>
          <a:lstStyle/>
          <a:p>
            <a:pPr algn="l"/>
            <a:r>
              <a:rPr sz="1100" b="1" i="0">
                <a:solidFill>
                  <a:srgbClr val="00D4FF"/>
                </a:solidFill>
                <a:latin typeface="Segoe UI"/>
              </a:rPr>
              <a:t>PROJECT OVERVIEW</a:t>
            </a:r>
          </a:p>
        </p:txBody>
      </p:sp>
      <p:sp>
        <p:nvSpPr>
          <p:cNvPr id="12" name="TextBox 11"/>
          <p:cNvSpPr txBox="1"/>
          <p:nvPr/>
        </p:nvSpPr>
        <p:spPr>
          <a:xfrm>
            <a:off x="4206240" y="960120"/>
            <a:ext cx="7589520" cy="822960"/>
          </a:xfrm>
          <a:prstGeom prst="rect">
            <a:avLst/>
          </a:prstGeom>
          <a:noFill/>
        </p:spPr>
        <p:txBody>
          <a:bodyPr wrap="square">
            <a:spAutoFit/>
          </a:bodyPr>
          <a:lstStyle/>
          <a:p>
            <a:pPr algn="l"/>
            <a:r>
              <a:rPr sz="4600" b="1" i="0">
                <a:solidFill>
                  <a:srgbClr val="FFFFFF"/>
                </a:solidFill>
                <a:latin typeface="Segoe UI"/>
              </a:rPr>
              <a:t>Recon NDS</a:t>
            </a:r>
          </a:p>
        </p:txBody>
      </p:sp>
      <p:sp>
        <p:nvSpPr>
          <p:cNvPr id="13" name="TextBox 12"/>
          <p:cNvSpPr txBox="1"/>
          <p:nvPr/>
        </p:nvSpPr>
        <p:spPr>
          <a:xfrm>
            <a:off x="4206240" y="1783080"/>
            <a:ext cx="7589520" cy="731520"/>
          </a:xfrm>
          <a:prstGeom prst="rect">
            <a:avLst/>
          </a:prstGeom>
          <a:noFill/>
        </p:spPr>
        <p:txBody>
          <a:bodyPr wrap="square">
            <a:spAutoFit/>
          </a:bodyPr>
          <a:lstStyle/>
          <a:p>
            <a:pPr algn="l"/>
            <a:r>
              <a:rPr sz="2000" b="0" i="0">
                <a:solidFill>
                  <a:srgbClr val="008BFF"/>
                </a:solidFill>
                <a:latin typeface="Segoe UI"/>
              </a:rPr>
              <a:t>Network Device Scanner &amp; Security
Monitoring Platform</a:t>
            </a:r>
          </a:p>
        </p:txBody>
      </p:sp>
      <p:sp>
        <p:nvSpPr>
          <p:cNvPr id="14" name="Rectangle 13"/>
          <p:cNvSpPr/>
          <p:nvPr/>
        </p:nvSpPr>
        <p:spPr>
          <a:xfrm>
            <a:off x="4206240" y="2606040"/>
            <a:ext cx="685800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06240" y="2880360"/>
            <a:ext cx="3200400" cy="59436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71800"/>
            <a:ext cx="3017520" cy="457200"/>
          </a:xfrm>
          <a:prstGeom prst="rect">
            <a:avLst/>
          </a:prstGeom>
          <a:noFill/>
        </p:spPr>
        <p:txBody>
          <a:bodyPr wrap="square">
            <a:spAutoFit/>
          </a:bodyPr>
          <a:lstStyle/>
          <a:p>
            <a:pPr algn="l"/>
            <a:r>
              <a:rPr sz="1400" b="1" i="0">
                <a:solidFill>
                  <a:srgbClr val="008BFF"/>
                </a:solidFill>
                <a:latin typeface="Segoe UI"/>
              </a:rPr>
              <a:t>🔍  Live Network Scanning</a:t>
            </a:r>
          </a:p>
        </p:txBody>
      </p:sp>
      <p:sp>
        <p:nvSpPr>
          <p:cNvPr id="17" name="Rounded Rectangle 16"/>
          <p:cNvSpPr/>
          <p:nvPr/>
        </p:nvSpPr>
        <p:spPr>
          <a:xfrm>
            <a:off x="7680960" y="2880360"/>
            <a:ext cx="3200400" cy="59436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8120" y="2971800"/>
            <a:ext cx="3017520" cy="457200"/>
          </a:xfrm>
          <a:prstGeom prst="rect">
            <a:avLst/>
          </a:prstGeom>
          <a:noFill/>
        </p:spPr>
        <p:txBody>
          <a:bodyPr wrap="square">
            <a:spAutoFit/>
          </a:bodyPr>
          <a:lstStyle/>
          <a:p>
            <a:pPr algn="l"/>
            <a:r>
              <a:rPr sz="1400" b="1" i="0">
                <a:solidFill>
                  <a:srgbClr val="7C3AFF"/>
                </a:solidFill>
                <a:latin typeface="Segoe UI"/>
              </a:rPr>
              <a:t>🛡  Threat Detection</a:t>
            </a:r>
          </a:p>
        </p:txBody>
      </p:sp>
      <p:sp>
        <p:nvSpPr>
          <p:cNvPr id="19" name="Rounded Rectangle 18"/>
          <p:cNvSpPr/>
          <p:nvPr/>
        </p:nvSpPr>
        <p:spPr>
          <a:xfrm>
            <a:off x="4206240" y="3657600"/>
            <a:ext cx="3200400" cy="59436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3400" y="3749040"/>
            <a:ext cx="3017520" cy="457200"/>
          </a:xfrm>
          <a:prstGeom prst="rect">
            <a:avLst/>
          </a:prstGeom>
          <a:noFill/>
        </p:spPr>
        <p:txBody>
          <a:bodyPr wrap="square">
            <a:spAutoFit/>
          </a:bodyPr>
          <a:lstStyle/>
          <a:p>
            <a:pPr algn="l"/>
            <a:r>
              <a:rPr sz="1400" b="1" i="0">
                <a:solidFill>
                  <a:srgbClr val="00FFAA"/>
                </a:solidFill>
                <a:latin typeface="Segoe UI"/>
              </a:rPr>
              <a:t>📋  Audit Logging</a:t>
            </a:r>
          </a:p>
        </p:txBody>
      </p:sp>
      <p:sp>
        <p:nvSpPr>
          <p:cNvPr id="21" name="Rounded Rectangle 20"/>
          <p:cNvSpPr/>
          <p:nvPr/>
        </p:nvSpPr>
        <p:spPr>
          <a:xfrm>
            <a:off x="7680960" y="3657600"/>
            <a:ext cx="3200400" cy="59436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18120" y="3749040"/>
            <a:ext cx="3017520" cy="457200"/>
          </a:xfrm>
          <a:prstGeom prst="rect">
            <a:avLst/>
          </a:prstGeom>
          <a:noFill/>
        </p:spPr>
        <p:txBody>
          <a:bodyPr wrap="square">
            <a:spAutoFit/>
          </a:bodyPr>
          <a:lstStyle/>
          <a:p>
            <a:pPr algn="l"/>
            <a:r>
              <a:rPr sz="1400" b="1" i="0">
                <a:solidFill>
                  <a:srgbClr val="FFA500"/>
                </a:solidFill>
                <a:latin typeface="Segoe UI"/>
              </a:rPr>
              <a:t>📊  Reports &amp; Analytics</a:t>
            </a:r>
          </a:p>
        </p:txBody>
      </p:sp>
      <p:sp>
        <p:nvSpPr>
          <p:cNvPr id="23" name="TextBox 22"/>
          <p:cNvSpPr txBox="1"/>
          <p:nvPr/>
        </p:nvSpPr>
        <p:spPr>
          <a:xfrm>
            <a:off x="4206240" y="4709160"/>
            <a:ext cx="7315200" cy="365760"/>
          </a:xfrm>
          <a:prstGeom prst="rect">
            <a:avLst/>
          </a:prstGeom>
          <a:noFill/>
        </p:spPr>
        <p:txBody>
          <a:bodyPr wrap="square">
            <a:spAutoFit/>
          </a:bodyPr>
          <a:lstStyle/>
          <a:p>
            <a:pPr algn="l"/>
            <a:r>
              <a:rPr sz="1200" b="0" i="1">
                <a:solidFill>
                  <a:srgbClr val="647A96"/>
                </a:solidFill>
                <a:latin typeface="Segoe UI"/>
              </a:rPr>
              <a:t>Subject: Cybersecurity Systems &amp; Architecture</a:t>
            </a:r>
          </a:p>
        </p:txBody>
      </p:sp>
      <p:sp>
        <p:nvSpPr>
          <p:cNvPr id="24" name="TextBox 23"/>
          <p:cNvSpPr txBox="1"/>
          <p:nvPr/>
        </p:nvSpPr>
        <p:spPr>
          <a:xfrm>
            <a:off x="4206240" y="5166360"/>
            <a:ext cx="1097280" cy="320040"/>
          </a:xfrm>
          <a:prstGeom prst="rect">
            <a:avLst/>
          </a:prstGeom>
          <a:noFill/>
        </p:spPr>
        <p:txBody>
          <a:bodyPr wrap="square">
            <a:spAutoFit/>
          </a:bodyPr>
          <a:lstStyle/>
          <a:p>
            <a:pPr algn="l"/>
            <a:r>
              <a:rPr sz="1100" b="0" i="0">
                <a:solidFill>
                  <a:srgbClr val="647A96"/>
                </a:solidFill>
                <a:latin typeface="Segoe UI"/>
              </a:rPr>
              <a:t>Built with:</a:t>
            </a:r>
          </a:p>
        </p:txBody>
      </p:sp>
      <p:sp>
        <p:nvSpPr>
          <p:cNvPr id="25" name="Rounded Rectangle 24"/>
          <p:cNvSpPr/>
          <p:nvPr/>
        </p:nvSpPr>
        <p:spPr>
          <a:xfrm>
            <a:off x="5120640" y="5120640"/>
            <a:ext cx="1188720" cy="347472"/>
          </a:xfrm>
          <a:prstGeom prst="roundRect">
            <a:avLst>
              <a:gd name="adj" fmla="val 5000"/>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66360" y="5138928"/>
            <a:ext cx="1097280" cy="320040"/>
          </a:xfrm>
          <a:prstGeom prst="rect">
            <a:avLst/>
          </a:prstGeom>
          <a:noFill/>
        </p:spPr>
        <p:txBody>
          <a:bodyPr wrap="square">
            <a:spAutoFit/>
          </a:bodyPr>
          <a:lstStyle/>
          <a:p>
            <a:pPr algn="ctr"/>
            <a:r>
              <a:rPr sz="1100" b="0" i="0">
                <a:solidFill>
                  <a:srgbClr val="00D4FF"/>
                </a:solidFill>
                <a:latin typeface="Segoe UI"/>
              </a:rPr>
              <a:t>Python</a:t>
            </a:r>
          </a:p>
        </p:txBody>
      </p:sp>
      <p:sp>
        <p:nvSpPr>
          <p:cNvPr id="27" name="Rounded Rectangle 26"/>
          <p:cNvSpPr/>
          <p:nvPr/>
        </p:nvSpPr>
        <p:spPr>
          <a:xfrm>
            <a:off x="6446520" y="5120640"/>
            <a:ext cx="1188720" cy="347472"/>
          </a:xfrm>
          <a:prstGeom prst="roundRect">
            <a:avLst>
              <a:gd name="adj" fmla="val 5000"/>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5138928"/>
            <a:ext cx="1097280" cy="320040"/>
          </a:xfrm>
          <a:prstGeom prst="rect">
            <a:avLst/>
          </a:prstGeom>
          <a:noFill/>
        </p:spPr>
        <p:txBody>
          <a:bodyPr wrap="square">
            <a:spAutoFit/>
          </a:bodyPr>
          <a:lstStyle/>
          <a:p>
            <a:pPr algn="ctr"/>
            <a:r>
              <a:rPr sz="1100" b="0" i="0">
                <a:solidFill>
                  <a:srgbClr val="00D4FF"/>
                </a:solidFill>
                <a:latin typeface="Segoe UI"/>
              </a:rPr>
              <a:t>FastAPI</a:t>
            </a:r>
          </a:p>
        </p:txBody>
      </p:sp>
      <p:sp>
        <p:nvSpPr>
          <p:cNvPr id="29" name="Rounded Rectangle 28"/>
          <p:cNvSpPr/>
          <p:nvPr/>
        </p:nvSpPr>
        <p:spPr>
          <a:xfrm>
            <a:off x="7772400" y="5120640"/>
            <a:ext cx="1188720" cy="347472"/>
          </a:xfrm>
          <a:prstGeom prst="roundRect">
            <a:avLst>
              <a:gd name="adj" fmla="val 5000"/>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18120" y="5138928"/>
            <a:ext cx="1097280" cy="320040"/>
          </a:xfrm>
          <a:prstGeom prst="rect">
            <a:avLst/>
          </a:prstGeom>
          <a:noFill/>
        </p:spPr>
        <p:txBody>
          <a:bodyPr wrap="square">
            <a:spAutoFit/>
          </a:bodyPr>
          <a:lstStyle/>
          <a:p>
            <a:pPr algn="ctr"/>
            <a:r>
              <a:rPr sz="1100" b="0" i="0">
                <a:solidFill>
                  <a:srgbClr val="00D4FF"/>
                </a:solidFill>
                <a:latin typeface="Segoe UI"/>
              </a:rPr>
              <a:t>SQLite</a:t>
            </a:r>
          </a:p>
        </p:txBody>
      </p:sp>
      <p:sp>
        <p:nvSpPr>
          <p:cNvPr id="31" name="Rounded Rectangle 30"/>
          <p:cNvSpPr/>
          <p:nvPr/>
        </p:nvSpPr>
        <p:spPr>
          <a:xfrm>
            <a:off x="9098280" y="5120640"/>
            <a:ext cx="1188720" cy="347472"/>
          </a:xfrm>
          <a:prstGeom prst="roundRect">
            <a:avLst>
              <a:gd name="adj" fmla="val 5000"/>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0" y="5138928"/>
            <a:ext cx="1097280" cy="320040"/>
          </a:xfrm>
          <a:prstGeom prst="rect">
            <a:avLst/>
          </a:prstGeom>
          <a:noFill/>
        </p:spPr>
        <p:txBody>
          <a:bodyPr wrap="square">
            <a:spAutoFit/>
          </a:bodyPr>
          <a:lstStyle/>
          <a:p>
            <a:pPr algn="ctr"/>
            <a:r>
              <a:rPr sz="1100" b="0" i="0">
                <a:solidFill>
                  <a:srgbClr val="00D4FF"/>
                </a:solidFill>
                <a:latin typeface="Segoe UI"/>
              </a:rPr>
              <a:t>Nmap</a:t>
            </a:r>
          </a:p>
        </p:txBody>
      </p:sp>
      <p:sp>
        <p:nvSpPr>
          <p:cNvPr id="33" name="Rounded Rectangle 32"/>
          <p:cNvSpPr/>
          <p:nvPr/>
        </p:nvSpPr>
        <p:spPr>
          <a:xfrm>
            <a:off x="10424160" y="5120640"/>
            <a:ext cx="1188720" cy="347472"/>
          </a:xfrm>
          <a:prstGeom prst="roundRect">
            <a:avLst>
              <a:gd name="adj" fmla="val 5000"/>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69880" y="5138928"/>
            <a:ext cx="1097280" cy="320040"/>
          </a:xfrm>
          <a:prstGeom prst="rect">
            <a:avLst/>
          </a:prstGeom>
          <a:noFill/>
        </p:spPr>
        <p:txBody>
          <a:bodyPr wrap="square">
            <a:spAutoFit/>
          </a:bodyPr>
          <a:lstStyle/>
          <a:p>
            <a:pPr algn="ctr"/>
            <a:r>
              <a:rPr sz="1100" b="0" i="0">
                <a:solidFill>
                  <a:srgbClr val="00D4FF"/>
                </a:solidFill>
                <a:latin typeface="Segoe UI"/>
              </a:rPr>
              <a:t>WebSocket</a:t>
            </a:r>
          </a:p>
        </p:txBody>
      </p:sp>
      <p:sp>
        <p:nvSpPr>
          <p:cNvPr id="35" name="Rectangle 34"/>
          <p:cNvSpPr/>
          <p:nvPr/>
        </p:nvSpPr>
        <p:spPr>
          <a:xfrm>
            <a:off x="0" y="6583680"/>
            <a:ext cx="12188952" cy="27432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 y="6601968"/>
            <a:ext cx="11640312" cy="228600"/>
          </a:xfrm>
          <a:prstGeom prst="rect">
            <a:avLst/>
          </a:prstGeom>
          <a:noFill/>
        </p:spPr>
        <p:txBody>
          <a:bodyPr wrap="square">
            <a:spAutoFit/>
          </a:bodyPr>
          <a:lstStyle/>
          <a:p>
            <a:pPr algn="ctr"/>
            <a:r>
              <a:rPr sz="900" b="0" i="0">
                <a:solidFill>
                  <a:srgbClr val="647A96"/>
                </a:solidFill>
                <a:latin typeface="Segoe UI"/>
              </a:rPr>
              <a:t>Recon Network Systems Inc.  |  Slide 1 of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6094476" cy="54864"/>
          </a:xfrm>
          <a:prstGeom prst="rect">
            <a:avLst/>
          </a:prstGeom>
          <a:solidFill>
            <a:srgbClr val="FF4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4476" y="0"/>
            <a:ext cx="6094476" cy="54864"/>
          </a:xfrm>
          <a:prstGeom prst="rect">
            <a:avLst/>
          </a:prstGeom>
          <a:solidFill>
            <a:srgbClr val="7C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4864"/>
            <a:ext cx="12188952" cy="132588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
            <a:ext cx="914400" cy="822960"/>
          </a:xfrm>
          <a:prstGeom prst="rect">
            <a:avLst/>
          </a:prstGeom>
          <a:noFill/>
        </p:spPr>
        <p:txBody>
          <a:bodyPr wrap="square">
            <a:spAutoFit/>
          </a:bodyPr>
          <a:lstStyle/>
          <a:p>
            <a:pPr algn="l"/>
            <a:r>
              <a:rPr sz="5200" b="1" i="0">
                <a:solidFill>
                  <a:srgbClr val="FF455B"/>
                </a:solidFill>
                <a:latin typeface="Segoe UI"/>
              </a:rPr>
              <a:t>02</a:t>
            </a:r>
          </a:p>
        </p:txBody>
      </p:sp>
      <p:sp>
        <p:nvSpPr>
          <p:cNvPr id="6" name="TextBox 5"/>
          <p:cNvSpPr txBox="1"/>
          <p:nvPr/>
        </p:nvSpPr>
        <p:spPr>
          <a:xfrm>
            <a:off x="1280160" y="164592"/>
            <a:ext cx="9144000" cy="457200"/>
          </a:xfrm>
          <a:prstGeom prst="rect">
            <a:avLst/>
          </a:prstGeom>
          <a:noFill/>
        </p:spPr>
        <p:txBody>
          <a:bodyPr wrap="square">
            <a:spAutoFit/>
          </a:bodyPr>
          <a:lstStyle/>
          <a:p>
            <a:pPr algn="l"/>
            <a:r>
              <a:rPr sz="2200" b="1" i="0">
                <a:solidFill>
                  <a:srgbClr val="FFFFFF"/>
                </a:solidFill>
                <a:latin typeface="Segoe UI"/>
              </a:rPr>
              <a:t>SECURITY PROBLEMS IDENTIFICATION</a:t>
            </a:r>
          </a:p>
        </p:txBody>
      </p:sp>
      <p:sp>
        <p:nvSpPr>
          <p:cNvPr id="7" name="TextBox 6"/>
          <p:cNvSpPr txBox="1"/>
          <p:nvPr/>
        </p:nvSpPr>
        <p:spPr>
          <a:xfrm>
            <a:off x="1280160" y="594360"/>
            <a:ext cx="9601200" cy="365760"/>
          </a:xfrm>
          <a:prstGeom prst="rect">
            <a:avLst/>
          </a:prstGeom>
          <a:noFill/>
        </p:spPr>
        <p:txBody>
          <a:bodyPr wrap="square">
            <a:spAutoFit/>
          </a:bodyPr>
          <a:lstStyle/>
          <a:p>
            <a:pPr algn="l"/>
            <a:r>
              <a:rPr sz="1300" b="0" i="0">
                <a:solidFill>
                  <a:srgbClr val="647A96"/>
                </a:solidFill>
                <a:latin typeface="Segoe UI"/>
              </a:rPr>
              <a:t>Observed cybersecurity issues affecting operations, data, networks, and information systems</a:t>
            </a:r>
          </a:p>
        </p:txBody>
      </p:sp>
      <p:sp>
        <p:nvSpPr>
          <p:cNvPr id="8" name="Rounded Rectangle 7"/>
          <p:cNvSpPr/>
          <p:nvPr/>
        </p:nvSpPr>
        <p:spPr>
          <a:xfrm>
            <a:off x="228600" y="1554480"/>
            <a:ext cx="3749039" cy="16916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54480"/>
            <a:ext cx="50292" cy="1691640"/>
          </a:xfrm>
          <a:prstGeom prst="rect">
            <a:avLst/>
          </a:prstGeom>
          <a:solidFill>
            <a:srgbClr val="FF4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02920" cy="457200"/>
          </a:xfrm>
          <a:prstGeom prst="rect">
            <a:avLst/>
          </a:prstGeom>
          <a:noFill/>
        </p:spPr>
        <p:txBody>
          <a:bodyPr wrap="square">
            <a:spAutoFit/>
          </a:bodyPr>
          <a:lstStyle/>
          <a:p>
            <a:pPr algn="l"/>
            <a:r>
              <a:rPr sz="2000" b="0" i="0">
                <a:solidFill>
                  <a:srgbClr val="FF455B"/>
                </a:solidFill>
                <a:latin typeface="Segoe UI"/>
              </a:rPr>
              <a:t>⚠</a:t>
            </a:r>
          </a:p>
        </p:txBody>
      </p:sp>
      <p:sp>
        <p:nvSpPr>
          <p:cNvPr id="11" name="TextBox 10"/>
          <p:cNvSpPr txBox="1"/>
          <p:nvPr/>
        </p:nvSpPr>
        <p:spPr>
          <a:xfrm>
            <a:off x="914400" y="1645920"/>
            <a:ext cx="2971799" cy="457200"/>
          </a:xfrm>
          <a:prstGeom prst="rect">
            <a:avLst/>
          </a:prstGeom>
          <a:noFill/>
        </p:spPr>
        <p:txBody>
          <a:bodyPr wrap="square">
            <a:spAutoFit/>
          </a:bodyPr>
          <a:lstStyle/>
          <a:p>
            <a:pPr algn="l"/>
            <a:r>
              <a:rPr sz="1200" b="1" i="0">
                <a:solidFill>
                  <a:srgbClr val="FF455B"/>
                </a:solidFill>
                <a:latin typeface="Segoe UI"/>
              </a:rPr>
              <a:t>Unauthorized / Rogue Device Access</a:t>
            </a:r>
          </a:p>
        </p:txBody>
      </p:sp>
      <p:sp>
        <p:nvSpPr>
          <p:cNvPr id="12" name="TextBox 11"/>
          <p:cNvSpPr txBox="1"/>
          <p:nvPr/>
        </p:nvSpPr>
        <p:spPr>
          <a:xfrm>
            <a:off x="365760" y="2103120"/>
            <a:ext cx="3520439" cy="1051560"/>
          </a:xfrm>
          <a:prstGeom prst="rect">
            <a:avLst/>
          </a:prstGeom>
          <a:noFill/>
        </p:spPr>
        <p:txBody>
          <a:bodyPr wrap="square">
            <a:spAutoFit/>
          </a:bodyPr>
          <a:lstStyle/>
          <a:p>
            <a:pPr algn="l"/>
            <a:r>
              <a:rPr sz="1050" b="0" i="0">
                <a:solidFill>
                  <a:srgbClr val="B8C5D6"/>
                </a:solidFill>
                <a:latin typeface="Segoe UI"/>
              </a:rPr>
              <a:t>Unknown devices can connect freely to the LAN with no prior identity verification. A rogue laptop or IoT gadget may gain full network access, exfiltrate sensitive data, or act as a pivot point for lateral movement attacks.</a:t>
            </a:r>
          </a:p>
        </p:txBody>
      </p:sp>
      <p:sp>
        <p:nvSpPr>
          <p:cNvPr id="13" name="Rounded Rectangle 12"/>
          <p:cNvSpPr/>
          <p:nvPr/>
        </p:nvSpPr>
        <p:spPr>
          <a:xfrm>
            <a:off x="4114799" y="1554480"/>
            <a:ext cx="3749039" cy="16916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799" y="1554480"/>
            <a:ext cx="50292" cy="1691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79" y="1645920"/>
            <a:ext cx="502920" cy="457200"/>
          </a:xfrm>
          <a:prstGeom prst="rect">
            <a:avLst/>
          </a:prstGeom>
          <a:noFill/>
        </p:spPr>
        <p:txBody>
          <a:bodyPr wrap="square">
            <a:spAutoFit/>
          </a:bodyPr>
          <a:lstStyle/>
          <a:p>
            <a:pPr algn="l"/>
            <a:r>
              <a:rPr sz="2000" b="0" i="0">
                <a:solidFill>
                  <a:srgbClr val="FFA500"/>
                </a:solidFill>
                <a:latin typeface="Segoe UI"/>
              </a:rPr>
              <a:t>🕵</a:t>
            </a:r>
          </a:p>
        </p:txBody>
      </p:sp>
      <p:sp>
        <p:nvSpPr>
          <p:cNvPr id="16" name="TextBox 15"/>
          <p:cNvSpPr txBox="1"/>
          <p:nvPr/>
        </p:nvSpPr>
        <p:spPr>
          <a:xfrm>
            <a:off x="4800599" y="1645920"/>
            <a:ext cx="2971799" cy="457200"/>
          </a:xfrm>
          <a:prstGeom prst="rect">
            <a:avLst/>
          </a:prstGeom>
          <a:noFill/>
        </p:spPr>
        <p:txBody>
          <a:bodyPr wrap="square">
            <a:spAutoFit/>
          </a:bodyPr>
          <a:lstStyle/>
          <a:p>
            <a:pPr algn="l"/>
            <a:r>
              <a:rPr sz="1200" b="1" i="0">
                <a:solidFill>
                  <a:srgbClr val="FFA500"/>
                </a:solidFill>
                <a:latin typeface="Segoe UI"/>
              </a:rPr>
              <a:t>ARP Spoofing &amp; MAC Address Spoofing</a:t>
            </a:r>
          </a:p>
        </p:txBody>
      </p:sp>
      <p:sp>
        <p:nvSpPr>
          <p:cNvPr id="17" name="TextBox 16"/>
          <p:cNvSpPr txBox="1"/>
          <p:nvPr/>
        </p:nvSpPr>
        <p:spPr>
          <a:xfrm>
            <a:off x="4251959" y="2103120"/>
            <a:ext cx="3520439" cy="1051560"/>
          </a:xfrm>
          <a:prstGeom prst="rect">
            <a:avLst/>
          </a:prstGeom>
          <a:noFill/>
        </p:spPr>
        <p:txBody>
          <a:bodyPr wrap="square">
            <a:spAutoFit/>
          </a:bodyPr>
          <a:lstStyle/>
          <a:p>
            <a:pPr algn="l"/>
            <a:r>
              <a:rPr sz="1050" b="0" i="0">
                <a:solidFill>
                  <a:srgbClr val="B8C5D6"/>
                </a:solidFill>
                <a:latin typeface="Segoe UI"/>
              </a:rPr>
              <a:t>Attackers forge ARP replies to associate their MAC address with a legitimate IP, redirecting traffic through a malicious host. This enables man-in-the-middle attacks, credential theft, and session hijacking.</a:t>
            </a:r>
          </a:p>
        </p:txBody>
      </p:sp>
      <p:sp>
        <p:nvSpPr>
          <p:cNvPr id="18" name="Rounded Rectangle 17"/>
          <p:cNvSpPr/>
          <p:nvPr/>
        </p:nvSpPr>
        <p:spPr>
          <a:xfrm>
            <a:off x="8000998" y="1554480"/>
            <a:ext cx="3749039" cy="16916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00998" y="1554480"/>
            <a:ext cx="50292" cy="1691640"/>
          </a:xfrm>
          <a:prstGeom prst="rect">
            <a:avLst/>
          </a:prstGeom>
          <a:solidFill>
            <a:srgbClr val="7C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78" y="1645920"/>
            <a:ext cx="502920" cy="457200"/>
          </a:xfrm>
          <a:prstGeom prst="rect">
            <a:avLst/>
          </a:prstGeom>
          <a:noFill/>
        </p:spPr>
        <p:txBody>
          <a:bodyPr wrap="square">
            <a:spAutoFit/>
          </a:bodyPr>
          <a:lstStyle/>
          <a:p>
            <a:pPr algn="l"/>
            <a:r>
              <a:rPr sz="2000" b="0" i="0">
                <a:solidFill>
                  <a:srgbClr val="7C3AFF"/>
                </a:solidFill>
                <a:latin typeface="Segoe UI"/>
              </a:rPr>
              <a:t>👁</a:t>
            </a:r>
          </a:p>
        </p:txBody>
      </p:sp>
      <p:sp>
        <p:nvSpPr>
          <p:cNvPr id="21" name="TextBox 20"/>
          <p:cNvSpPr txBox="1"/>
          <p:nvPr/>
        </p:nvSpPr>
        <p:spPr>
          <a:xfrm>
            <a:off x="8686798" y="1645920"/>
            <a:ext cx="2971799" cy="457200"/>
          </a:xfrm>
          <a:prstGeom prst="rect">
            <a:avLst/>
          </a:prstGeom>
          <a:noFill/>
        </p:spPr>
        <p:txBody>
          <a:bodyPr wrap="square">
            <a:spAutoFit/>
          </a:bodyPr>
          <a:lstStyle/>
          <a:p>
            <a:pPr algn="l"/>
            <a:r>
              <a:rPr sz="1200" b="1" i="0">
                <a:solidFill>
                  <a:srgbClr val="7C3AFF"/>
                </a:solidFill>
                <a:latin typeface="Segoe UI"/>
              </a:rPr>
              <a:t>Lack of Real-Time Network Visibility</a:t>
            </a:r>
          </a:p>
        </p:txBody>
      </p:sp>
      <p:sp>
        <p:nvSpPr>
          <p:cNvPr id="22" name="TextBox 21"/>
          <p:cNvSpPr txBox="1"/>
          <p:nvPr/>
        </p:nvSpPr>
        <p:spPr>
          <a:xfrm>
            <a:off x="8138158" y="2103120"/>
            <a:ext cx="3520439" cy="1051560"/>
          </a:xfrm>
          <a:prstGeom prst="rect">
            <a:avLst/>
          </a:prstGeom>
          <a:noFill/>
        </p:spPr>
        <p:txBody>
          <a:bodyPr wrap="square">
            <a:spAutoFit/>
          </a:bodyPr>
          <a:lstStyle/>
          <a:p>
            <a:pPr algn="l"/>
            <a:r>
              <a:rPr sz="1050" b="0" i="0">
                <a:solidFill>
                  <a:srgbClr val="B8C5D6"/>
                </a:solidFill>
                <a:latin typeface="Segoe UI"/>
              </a:rPr>
              <a:t>Without continuous monitoring, IT teams have zero situational awareness. Devices connecting, disconnecting, or behaving anomalously go undetected, leaving the network exposed for extended dwell times.</a:t>
            </a:r>
          </a:p>
        </p:txBody>
      </p:sp>
      <p:sp>
        <p:nvSpPr>
          <p:cNvPr id="23" name="Rounded Rectangle 22"/>
          <p:cNvSpPr/>
          <p:nvPr/>
        </p:nvSpPr>
        <p:spPr>
          <a:xfrm>
            <a:off x="228600" y="3410712"/>
            <a:ext cx="3749039" cy="16916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28600" y="3410712"/>
            <a:ext cx="50292" cy="1691640"/>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502152"/>
            <a:ext cx="502920" cy="457200"/>
          </a:xfrm>
          <a:prstGeom prst="rect">
            <a:avLst/>
          </a:prstGeom>
          <a:noFill/>
        </p:spPr>
        <p:txBody>
          <a:bodyPr wrap="square">
            <a:spAutoFit/>
          </a:bodyPr>
          <a:lstStyle/>
          <a:p>
            <a:pPr algn="l"/>
            <a:r>
              <a:rPr sz="2000" b="0" i="0">
                <a:solidFill>
                  <a:srgbClr val="008BFF"/>
                </a:solidFill>
                <a:latin typeface="Segoe UI"/>
              </a:rPr>
              <a:t>🔓</a:t>
            </a:r>
          </a:p>
        </p:txBody>
      </p:sp>
      <p:sp>
        <p:nvSpPr>
          <p:cNvPr id="26" name="TextBox 25"/>
          <p:cNvSpPr txBox="1"/>
          <p:nvPr/>
        </p:nvSpPr>
        <p:spPr>
          <a:xfrm>
            <a:off x="914400" y="3502152"/>
            <a:ext cx="2971799" cy="457200"/>
          </a:xfrm>
          <a:prstGeom prst="rect">
            <a:avLst/>
          </a:prstGeom>
          <a:noFill/>
        </p:spPr>
        <p:txBody>
          <a:bodyPr wrap="square">
            <a:spAutoFit/>
          </a:bodyPr>
          <a:lstStyle/>
          <a:p>
            <a:pPr algn="l"/>
            <a:r>
              <a:rPr sz="1200" b="1" i="0">
                <a:solidFill>
                  <a:srgbClr val="008BFF"/>
                </a:solidFill>
                <a:latin typeface="Segoe UI"/>
              </a:rPr>
              <a:t>Unpatched Vulnerabilities (CVE Exposure)</a:t>
            </a:r>
          </a:p>
        </p:txBody>
      </p:sp>
      <p:sp>
        <p:nvSpPr>
          <p:cNvPr id="27" name="TextBox 26"/>
          <p:cNvSpPr txBox="1"/>
          <p:nvPr/>
        </p:nvSpPr>
        <p:spPr>
          <a:xfrm>
            <a:off x="365760" y="3959352"/>
            <a:ext cx="3520439" cy="1051560"/>
          </a:xfrm>
          <a:prstGeom prst="rect">
            <a:avLst/>
          </a:prstGeom>
          <a:noFill/>
        </p:spPr>
        <p:txBody>
          <a:bodyPr wrap="square">
            <a:spAutoFit/>
          </a:bodyPr>
          <a:lstStyle/>
          <a:p>
            <a:pPr algn="l"/>
            <a:r>
              <a:rPr sz="1050" b="0" i="0">
                <a:solidFill>
                  <a:srgbClr val="B8C5D6"/>
                </a:solidFill>
                <a:latin typeface="Segoe UI"/>
              </a:rPr>
              <a:t>Active devices may run outdated software with known CVEs. Without automated CVE correlation against scanned device vendors, critical vulnerabilities remain unaddressed until a breach occurs.</a:t>
            </a:r>
          </a:p>
        </p:txBody>
      </p:sp>
      <p:sp>
        <p:nvSpPr>
          <p:cNvPr id="28" name="Rounded Rectangle 27"/>
          <p:cNvSpPr/>
          <p:nvPr/>
        </p:nvSpPr>
        <p:spPr>
          <a:xfrm>
            <a:off x="4114799" y="3410712"/>
            <a:ext cx="3749039" cy="16916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799" y="3410712"/>
            <a:ext cx="50292" cy="1691640"/>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97679" y="3502152"/>
            <a:ext cx="502920" cy="457200"/>
          </a:xfrm>
          <a:prstGeom prst="rect">
            <a:avLst/>
          </a:prstGeom>
          <a:noFill/>
        </p:spPr>
        <p:txBody>
          <a:bodyPr wrap="square">
            <a:spAutoFit/>
          </a:bodyPr>
          <a:lstStyle/>
          <a:p>
            <a:pPr algn="l"/>
            <a:r>
              <a:rPr sz="2000" b="0" i="0">
                <a:solidFill>
                  <a:srgbClr val="00FFAA"/>
                </a:solidFill>
                <a:latin typeface="Segoe UI"/>
              </a:rPr>
              <a:t>📂</a:t>
            </a:r>
          </a:p>
        </p:txBody>
      </p:sp>
      <p:sp>
        <p:nvSpPr>
          <p:cNvPr id="31" name="TextBox 30"/>
          <p:cNvSpPr txBox="1"/>
          <p:nvPr/>
        </p:nvSpPr>
        <p:spPr>
          <a:xfrm>
            <a:off x="4800599" y="3502152"/>
            <a:ext cx="2971799" cy="457200"/>
          </a:xfrm>
          <a:prstGeom prst="rect">
            <a:avLst/>
          </a:prstGeom>
          <a:noFill/>
        </p:spPr>
        <p:txBody>
          <a:bodyPr wrap="square">
            <a:spAutoFit/>
          </a:bodyPr>
          <a:lstStyle/>
          <a:p>
            <a:pPr algn="l"/>
            <a:r>
              <a:rPr sz="1200" b="1" i="0">
                <a:solidFill>
                  <a:srgbClr val="00FFAA"/>
                </a:solidFill>
                <a:latin typeface="Segoe UI"/>
              </a:rPr>
              <a:t>No Audit Trail / Accountability Gap</a:t>
            </a:r>
          </a:p>
        </p:txBody>
      </p:sp>
      <p:sp>
        <p:nvSpPr>
          <p:cNvPr id="32" name="TextBox 31"/>
          <p:cNvSpPr txBox="1"/>
          <p:nvPr/>
        </p:nvSpPr>
        <p:spPr>
          <a:xfrm>
            <a:off x="4251959" y="3959352"/>
            <a:ext cx="3520439" cy="1051560"/>
          </a:xfrm>
          <a:prstGeom prst="rect">
            <a:avLst/>
          </a:prstGeom>
          <a:noFill/>
        </p:spPr>
        <p:txBody>
          <a:bodyPr wrap="square">
            <a:spAutoFit/>
          </a:bodyPr>
          <a:lstStyle/>
          <a:p>
            <a:pPr algn="l"/>
            <a:r>
              <a:rPr sz="1050" b="0" i="0">
                <a:solidFill>
                  <a:srgbClr val="B8C5D6"/>
                </a:solidFill>
                <a:latin typeface="Segoe UI"/>
              </a:rPr>
              <a:t>Administrative actions on network assets (approvals, blocks, config changes) are untracked. In a security incident, forensic teams cannot reconstruct who did what, when, and from where.</a:t>
            </a:r>
          </a:p>
        </p:txBody>
      </p:sp>
      <p:sp>
        <p:nvSpPr>
          <p:cNvPr id="33" name="Rounded Rectangle 32"/>
          <p:cNvSpPr/>
          <p:nvPr/>
        </p:nvSpPr>
        <p:spPr>
          <a:xfrm>
            <a:off x="8000998" y="3410712"/>
            <a:ext cx="3749039" cy="16916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00998" y="3410712"/>
            <a:ext cx="50292" cy="169164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83878" y="3502152"/>
            <a:ext cx="502920" cy="457200"/>
          </a:xfrm>
          <a:prstGeom prst="rect">
            <a:avLst/>
          </a:prstGeom>
          <a:noFill/>
        </p:spPr>
        <p:txBody>
          <a:bodyPr wrap="square">
            <a:spAutoFit/>
          </a:bodyPr>
          <a:lstStyle/>
          <a:p>
            <a:pPr algn="l"/>
            <a:r>
              <a:rPr sz="2000" b="0" i="0">
                <a:solidFill>
                  <a:srgbClr val="FFD700"/>
                </a:solidFill>
                <a:latin typeface="Segoe UI"/>
              </a:rPr>
              <a:t>🌐</a:t>
            </a:r>
          </a:p>
        </p:txBody>
      </p:sp>
      <p:sp>
        <p:nvSpPr>
          <p:cNvPr id="36" name="TextBox 35"/>
          <p:cNvSpPr txBox="1"/>
          <p:nvPr/>
        </p:nvSpPr>
        <p:spPr>
          <a:xfrm>
            <a:off x="8686798" y="3502152"/>
            <a:ext cx="2971799" cy="457200"/>
          </a:xfrm>
          <a:prstGeom prst="rect">
            <a:avLst/>
          </a:prstGeom>
          <a:noFill/>
        </p:spPr>
        <p:txBody>
          <a:bodyPr wrap="square">
            <a:spAutoFit/>
          </a:bodyPr>
          <a:lstStyle/>
          <a:p>
            <a:pPr algn="l"/>
            <a:r>
              <a:rPr sz="1200" b="1" i="0">
                <a:solidFill>
                  <a:srgbClr val="FFD700"/>
                </a:solidFill>
                <a:latin typeface="Segoe UI"/>
              </a:rPr>
              <a:t>Uncontrolled Network Traffic &amp; Anomalies</a:t>
            </a:r>
          </a:p>
        </p:txBody>
      </p:sp>
      <p:sp>
        <p:nvSpPr>
          <p:cNvPr id="37" name="TextBox 36"/>
          <p:cNvSpPr txBox="1"/>
          <p:nvPr/>
        </p:nvSpPr>
        <p:spPr>
          <a:xfrm>
            <a:off x="8138158" y="3959352"/>
            <a:ext cx="3520439" cy="1051560"/>
          </a:xfrm>
          <a:prstGeom prst="rect">
            <a:avLst/>
          </a:prstGeom>
          <a:noFill/>
        </p:spPr>
        <p:txBody>
          <a:bodyPr wrap="square">
            <a:spAutoFit/>
          </a:bodyPr>
          <a:lstStyle/>
          <a:p>
            <a:pPr algn="l"/>
            <a:r>
              <a:rPr sz="1050" b="0" i="0">
                <a:solidFill>
                  <a:srgbClr val="B8C5D6"/>
                </a:solidFill>
                <a:latin typeface="Segoe UI"/>
              </a:rPr>
              <a:t>Abnormal traffic spikes, port scans, and suspicious communication patterns go unnoticed. Without a packet-level sniffer and anomaly detector, threats like DDoS attempts or data exfiltration remain invisible.</a:t>
            </a:r>
          </a:p>
        </p:txBody>
      </p:sp>
      <p:sp>
        <p:nvSpPr>
          <p:cNvPr id="38" name="Rectangle 37"/>
          <p:cNvSpPr/>
          <p:nvPr/>
        </p:nvSpPr>
        <p:spPr>
          <a:xfrm>
            <a:off x="0" y="6583680"/>
            <a:ext cx="12188952" cy="27432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6601968"/>
            <a:ext cx="11640312" cy="228600"/>
          </a:xfrm>
          <a:prstGeom prst="rect">
            <a:avLst/>
          </a:prstGeom>
          <a:noFill/>
        </p:spPr>
        <p:txBody>
          <a:bodyPr wrap="square">
            <a:spAutoFit/>
          </a:bodyPr>
          <a:lstStyle/>
          <a:p>
            <a:pPr algn="ctr"/>
            <a:r>
              <a:rPr sz="900" b="0" i="0">
                <a:solidFill>
                  <a:srgbClr val="647A96"/>
                </a:solidFill>
                <a:latin typeface="Segoe UI"/>
              </a:rPr>
              <a:t>Recon Network Systems Inc.  |  Slide 2 of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6094476"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4476" y="0"/>
            <a:ext cx="6094476" cy="54864"/>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4864"/>
            <a:ext cx="12188952" cy="132588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
            <a:ext cx="914400" cy="822960"/>
          </a:xfrm>
          <a:prstGeom prst="rect">
            <a:avLst/>
          </a:prstGeom>
          <a:noFill/>
        </p:spPr>
        <p:txBody>
          <a:bodyPr wrap="square">
            <a:spAutoFit/>
          </a:bodyPr>
          <a:lstStyle/>
          <a:p>
            <a:pPr algn="l"/>
            <a:r>
              <a:rPr sz="5200" b="1" i="0">
                <a:solidFill>
                  <a:srgbClr val="00D4FF"/>
                </a:solidFill>
                <a:latin typeface="Segoe UI"/>
              </a:rPr>
              <a:t>03</a:t>
            </a:r>
          </a:p>
        </p:txBody>
      </p:sp>
      <p:sp>
        <p:nvSpPr>
          <p:cNvPr id="6" name="TextBox 5"/>
          <p:cNvSpPr txBox="1"/>
          <p:nvPr/>
        </p:nvSpPr>
        <p:spPr>
          <a:xfrm>
            <a:off x="1280160" y="164592"/>
            <a:ext cx="9601200" cy="457200"/>
          </a:xfrm>
          <a:prstGeom prst="rect">
            <a:avLst/>
          </a:prstGeom>
          <a:noFill/>
        </p:spPr>
        <p:txBody>
          <a:bodyPr wrap="square">
            <a:spAutoFit/>
          </a:bodyPr>
          <a:lstStyle/>
          <a:p>
            <a:pPr algn="l"/>
            <a:r>
              <a:rPr sz="2200" b="1" i="0">
                <a:solidFill>
                  <a:srgbClr val="FFFFFF"/>
                </a:solidFill>
                <a:latin typeface="Segoe UI"/>
              </a:rPr>
              <a:t>DETECTION TECHNIQUES &amp; SECURITY FEATURES</a:t>
            </a:r>
          </a:p>
        </p:txBody>
      </p:sp>
      <p:sp>
        <p:nvSpPr>
          <p:cNvPr id="7" name="TextBox 6"/>
          <p:cNvSpPr txBox="1"/>
          <p:nvPr/>
        </p:nvSpPr>
        <p:spPr>
          <a:xfrm>
            <a:off x="1280160" y="594360"/>
            <a:ext cx="9601200" cy="365760"/>
          </a:xfrm>
          <a:prstGeom prst="rect">
            <a:avLst/>
          </a:prstGeom>
          <a:noFill/>
        </p:spPr>
        <p:txBody>
          <a:bodyPr wrap="square">
            <a:spAutoFit/>
          </a:bodyPr>
          <a:lstStyle/>
          <a:p>
            <a:pPr algn="l"/>
            <a:r>
              <a:rPr sz="1300" b="0" i="0">
                <a:solidFill>
                  <a:srgbClr val="647A96"/>
                </a:solidFill>
                <a:latin typeface="Segoe UI"/>
              </a:rPr>
              <a:t>Security controls implemented to prevent, detect, and mitigate cybersecurity threats</a:t>
            </a:r>
          </a:p>
        </p:txBody>
      </p:sp>
      <p:sp>
        <p:nvSpPr>
          <p:cNvPr id="8" name="Rectangle 7"/>
          <p:cNvSpPr/>
          <p:nvPr/>
        </p:nvSpPr>
        <p:spPr>
          <a:xfrm>
            <a:off x="228600" y="1508760"/>
            <a:ext cx="36576" cy="8046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554480"/>
            <a:ext cx="365760" cy="411480"/>
          </a:xfrm>
          <a:prstGeom prst="rect">
            <a:avLst/>
          </a:prstGeom>
          <a:noFill/>
        </p:spPr>
        <p:txBody>
          <a:bodyPr wrap="square">
            <a:spAutoFit/>
          </a:bodyPr>
          <a:lstStyle/>
          <a:p>
            <a:pPr algn="l"/>
            <a:r>
              <a:rPr sz="1800" b="0" i="0">
                <a:solidFill>
                  <a:srgbClr val="00D4FF"/>
                </a:solidFill>
                <a:latin typeface="Segoe UI"/>
              </a:rPr>
              <a:t>🔍</a:t>
            </a:r>
          </a:p>
        </p:txBody>
      </p:sp>
      <p:sp>
        <p:nvSpPr>
          <p:cNvPr id="10" name="TextBox 9"/>
          <p:cNvSpPr txBox="1"/>
          <p:nvPr/>
        </p:nvSpPr>
        <p:spPr>
          <a:xfrm>
            <a:off x="685800" y="1545336"/>
            <a:ext cx="5303520" cy="347472"/>
          </a:xfrm>
          <a:prstGeom prst="rect">
            <a:avLst/>
          </a:prstGeom>
          <a:noFill/>
        </p:spPr>
        <p:txBody>
          <a:bodyPr wrap="square">
            <a:spAutoFit/>
          </a:bodyPr>
          <a:lstStyle/>
          <a:p>
            <a:pPr algn="l"/>
            <a:r>
              <a:rPr sz="1200" b="1" i="0">
                <a:solidFill>
                  <a:srgbClr val="00D4FF"/>
                </a:solidFill>
                <a:latin typeface="Segoe UI"/>
              </a:rPr>
              <a:t>  Nmap Network Scanning</a:t>
            </a:r>
          </a:p>
        </p:txBody>
      </p:sp>
      <p:sp>
        <p:nvSpPr>
          <p:cNvPr id="11" name="TextBox 10"/>
          <p:cNvSpPr txBox="1"/>
          <p:nvPr/>
        </p:nvSpPr>
        <p:spPr>
          <a:xfrm>
            <a:off x="685800" y="1892808"/>
            <a:ext cx="5303520" cy="475488"/>
          </a:xfrm>
          <a:prstGeom prst="rect">
            <a:avLst/>
          </a:prstGeom>
          <a:noFill/>
        </p:spPr>
        <p:txBody>
          <a:bodyPr wrap="square">
            <a:spAutoFit/>
          </a:bodyPr>
          <a:lstStyle/>
          <a:p>
            <a:pPr algn="l"/>
            <a:r>
              <a:rPr sz="950" b="0" i="0">
                <a:solidFill>
                  <a:srgbClr val="B8C5D6"/>
                </a:solidFill>
                <a:latin typeface="Segoe UI"/>
              </a:rPr>
              <a:t>Automated subnet sweeps using nmap -sn with XML parsing extract IP, MAC, hostname, and vendor. Scheduled every 15 minutes or triggered manually.</a:t>
            </a:r>
          </a:p>
        </p:txBody>
      </p:sp>
      <p:sp>
        <p:nvSpPr>
          <p:cNvPr id="12" name="Rectangle 11"/>
          <p:cNvSpPr/>
          <p:nvPr/>
        </p:nvSpPr>
        <p:spPr>
          <a:xfrm>
            <a:off x="228600" y="2404872"/>
            <a:ext cx="36576" cy="804672"/>
          </a:xfrm>
          <a:prstGeom prst="rect">
            <a:avLst/>
          </a:prstGeom>
          <a:solidFill>
            <a:srgbClr val="FF4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450592"/>
            <a:ext cx="365760" cy="411480"/>
          </a:xfrm>
          <a:prstGeom prst="rect">
            <a:avLst/>
          </a:prstGeom>
          <a:noFill/>
        </p:spPr>
        <p:txBody>
          <a:bodyPr wrap="square">
            <a:spAutoFit/>
          </a:bodyPr>
          <a:lstStyle/>
          <a:p>
            <a:pPr algn="l"/>
            <a:r>
              <a:rPr sz="1800" b="0" i="0">
                <a:solidFill>
                  <a:srgbClr val="FF455B"/>
                </a:solidFill>
                <a:latin typeface="Segoe UI"/>
              </a:rPr>
              <a:t>🚨</a:t>
            </a:r>
          </a:p>
        </p:txBody>
      </p:sp>
      <p:sp>
        <p:nvSpPr>
          <p:cNvPr id="14" name="TextBox 13"/>
          <p:cNvSpPr txBox="1"/>
          <p:nvPr/>
        </p:nvSpPr>
        <p:spPr>
          <a:xfrm>
            <a:off x="685800" y="2441448"/>
            <a:ext cx="5303520" cy="347472"/>
          </a:xfrm>
          <a:prstGeom prst="rect">
            <a:avLst/>
          </a:prstGeom>
          <a:noFill/>
        </p:spPr>
        <p:txBody>
          <a:bodyPr wrap="square">
            <a:spAutoFit/>
          </a:bodyPr>
          <a:lstStyle/>
          <a:p>
            <a:pPr algn="l"/>
            <a:r>
              <a:rPr sz="1200" b="1" i="0">
                <a:solidFill>
                  <a:srgbClr val="FF455B"/>
                </a:solidFill>
                <a:latin typeface="Segoe UI"/>
              </a:rPr>
              <a:t>  Unknown Device Alerting</a:t>
            </a:r>
          </a:p>
        </p:txBody>
      </p:sp>
      <p:sp>
        <p:nvSpPr>
          <p:cNvPr id="15" name="TextBox 14"/>
          <p:cNvSpPr txBox="1"/>
          <p:nvPr/>
        </p:nvSpPr>
        <p:spPr>
          <a:xfrm>
            <a:off x="685800" y="2788920"/>
            <a:ext cx="5303520" cy="475488"/>
          </a:xfrm>
          <a:prstGeom prst="rect">
            <a:avLst/>
          </a:prstGeom>
          <a:noFill/>
        </p:spPr>
        <p:txBody>
          <a:bodyPr wrap="square">
            <a:spAutoFit/>
          </a:bodyPr>
          <a:lstStyle/>
          <a:p>
            <a:pPr algn="l"/>
            <a:r>
              <a:rPr sz="950" b="0" i="0">
                <a:solidFill>
                  <a:srgbClr val="B8C5D6"/>
                </a:solidFill>
                <a:latin typeface="Segoe UI"/>
              </a:rPr>
              <a:t>Any device with an unregistered MAC is immediately flagged as 'Unknown', triggers a dashboard alert, and queues a port scan for enrichment.</a:t>
            </a:r>
          </a:p>
        </p:txBody>
      </p:sp>
      <p:sp>
        <p:nvSpPr>
          <p:cNvPr id="16" name="Rectangle 15"/>
          <p:cNvSpPr/>
          <p:nvPr/>
        </p:nvSpPr>
        <p:spPr>
          <a:xfrm>
            <a:off x="228600" y="3300984"/>
            <a:ext cx="36576" cy="804672"/>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346704"/>
            <a:ext cx="365760" cy="411480"/>
          </a:xfrm>
          <a:prstGeom prst="rect">
            <a:avLst/>
          </a:prstGeom>
          <a:noFill/>
        </p:spPr>
        <p:txBody>
          <a:bodyPr wrap="square">
            <a:spAutoFit/>
          </a:bodyPr>
          <a:lstStyle/>
          <a:p>
            <a:pPr algn="l"/>
            <a:r>
              <a:rPr sz="1800" b="0" i="0">
                <a:solidFill>
                  <a:srgbClr val="008BFF"/>
                </a:solidFill>
                <a:latin typeface="Segoe UI"/>
              </a:rPr>
              <a:t>🔬</a:t>
            </a:r>
          </a:p>
        </p:txBody>
      </p:sp>
      <p:sp>
        <p:nvSpPr>
          <p:cNvPr id="18" name="TextBox 17"/>
          <p:cNvSpPr txBox="1"/>
          <p:nvPr/>
        </p:nvSpPr>
        <p:spPr>
          <a:xfrm>
            <a:off x="685800" y="3337560"/>
            <a:ext cx="5303520" cy="347472"/>
          </a:xfrm>
          <a:prstGeom prst="rect">
            <a:avLst/>
          </a:prstGeom>
          <a:noFill/>
        </p:spPr>
        <p:txBody>
          <a:bodyPr wrap="square">
            <a:spAutoFit/>
          </a:bodyPr>
          <a:lstStyle/>
          <a:p>
            <a:pPr algn="l"/>
            <a:r>
              <a:rPr sz="1200" b="1" i="0">
                <a:solidFill>
                  <a:srgbClr val="008BFF"/>
                </a:solidFill>
                <a:latin typeface="Segoe UI"/>
              </a:rPr>
              <a:t>  Port Scanning &amp; OS Fingerprinting</a:t>
            </a:r>
          </a:p>
        </p:txBody>
      </p:sp>
      <p:sp>
        <p:nvSpPr>
          <p:cNvPr id="19" name="TextBox 18"/>
          <p:cNvSpPr txBox="1"/>
          <p:nvPr/>
        </p:nvSpPr>
        <p:spPr>
          <a:xfrm>
            <a:off x="685800" y="3685032"/>
            <a:ext cx="5303520" cy="475488"/>
          </a:xfrm>
          <a:prstGeom prst="rect">
            <a:avLst/>
          </a:prstGeom>
          <a:noFill/>
        </p:spPr>
        <p:txBody>
          <a:bodyPr wrap="square">
            <a:spAutoFit/>
          </a:bodyPr>
          <a:lstStyle/>
          <a:p>
            <a:pPr algn="l"/>
            <a:r>
              <a:rPr sz="950" b="0" i="0">
                <a:solidFill>
                  <a:srgbClr val="B8C5D6"/>
                </a:solidFill>
                <a:latin typeface="Segoe UI"/>
              </a:rPr>
              <a:t>Per-device nmap -F fast scans profile open services (HTTP, SSH, SMB, RDP). Heuristics classify device type: router, server, printer, or endpoint.</a:t>
            </a:r>
          </a:p>
        </p:txBody>
      </p:sp>
      <p:sp>
        <p:nvSpPr>
          <p:cNvPr id="20" name="Rectangle 19"/>
          <p:cNvSpPr/>
          <p:nvPr/>
        </p:nvSpPr>
        <p:spPr>
          <a:xfrm>
            <a:off x="228600" y="4197096"/>
            <a:ext cx="36576"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4242816"/>
            <a:ext cx="365760" cy="411480"/>
          </a:xfrm>
          <a:prstGeom prst="rect">
            <a:avLst/>
          </a:prstGeom>
          <a:noFill/>
        </p:spPr>
        <p:txBody>
          <a:bodyPr wrap="square">
            <a:spAutoFit/>
          </a:bodyPr>
          <a:lstStyle/>
          <a:p>
            <a:pPr algn="l"/>
            <a:r>
              <a:rPr sz="1800" b="0" i="0">
                <a:solidFill>
                  <a:srgbClr val="FFA500"/>
                </a:solidFill>
                <a:latin typeface="Segoe UI"/>
              </a:rPr>
              <a:t>🕵</a:t>
            </a:r>
          </a:p>
        </p:txBody>
      </p:sp>
      <p:sp>
        <p:nvSpPr>
          <p:cNvPr id="22" name="TextBox 21"/>
          <p:cNvSpPr txBox="1"/>
          <p:nvPr/>
        </p:nvSpPr>
        <p:spPr>
          <a:xfrm>
            <a:off x="685800" y="4233672"/>
            <a:ext cx="5303520" cy="347472"/>
          </a:xfrm>
          <a:prstGeom prst="rect">
            <a:avLst/>
          </a:prstGeom>
          <a:noFill/>
        </p:spPr>
        <p:txBody>
          <a:bodyPr wrap="square">
            <a:spAutoFit/>
          </a:bodyPr>
          <a:lstStyle/>
          <a:p>
            <a:pPr algn="l"/>
            <a:r>
              <a:rPr sz="1200" b="1" i="0">
                <a:solidFill>
                  <a:srgbClr val="FFA500"/>
                </a:solidFill>
                <a:latin typeface="Segoe UI"/>
              </a:rPr>
              <a:t>  ARP / MAC Spoofing Detection</a:t>
            </a:r>
          </a:p>
        </p:txBody>
      </p:sp>
      <p:sp>
        <p:nvSpPr>
          <p:cNvPr id="23" name="TextBox 22"/>
          <p:cNvSpPr txBox="1"/>
          <p:nvPr/>
        </p:nvSpPr>
        <p:spPr>
          <a:xfrm>
            <a:off x="685800" y="4581144"/>
            <a:ext cx="5303520" cy="475488"/>
          </a:xfrm>
          <a:prstGeom prst="rect">
            <a:avLst/>
          </a:prstGeom>
          <a:noFill/>
        </p:spPr>
        <p:txBody>
          <a:bodyPr wrap="square">
            <a:spAutoFit/>
          </a:bodyPr>
          <a:lstStyle/>
          <a:p>
            <a:pPr algn="l"/>
            <a:r>
              <a:rPr sz="950" b="0" i="0">
                <a:solidFill>
                  <a:srgbClr val="B8C5D6"/>
                </a:solidFill>
                <a:latin typeface="Segoe UI"/>
              </a:rPr>
              <a:t>WebSocket-based real-time MAC comparison: if the discovered MAC at a trusted IP mismatches the registered MAC, a CRITICAL alert is pushed instantly.</a:t>
            </a:r>
          </a:p>
        </p:txBody>
      </p:sp>
      <p:sp>
        <p:nvSpPr>
          <p:cNvPr id="24" name="Rectangle 23"/>
          <p:cNvSpPr/>
          <p:nvPr/>
        </p:nvSpPr>
        <p:spPr>
          <a:xfrm>
            <a:off x="228600" y="5093208"/>
            <a:ext cx="36576" cy="804672"/>
          </a:xfrm>
          <a:prstGeom prst="rect">
            <a:avLst/>
          </a:prstGeom>
          <a:solidFill>
            <a:srgbClr val="7C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5138928"/>
            <a:ext cx="365760" cy="411480"/>
          </a:xfrm>
          <a:prstGeom prst="rect">
            <a:avLst/>
          </a:prstGeom>
          <a:noFill/>
        </p:spPr>
        <p:txBody>
          <a:bodyPr wrap="square">
            <a:spAutoFit/>
          </a:bodyPr>
          <a:lstStyle/>
          <a:p>
            <a:pPr algn="l"/>
            <a:r>
              <a:rPr sz="1800" b="0" i="0">
                <a:solidFill>
                  <a:srgbClr val="7C3AFF"/>
                </a:solidFill>
                <a:latin typeface="Segoe UI"/>
              </a:rPr>
              <a:t>📡</a:t>
            </a:r>
          </a:p>
        </p:txBody>
      </p:sp>
      <p:sp>
        <p:nvSpPr>
          <p:cNvPr id="26" name="TextBox 25"/>
          <p:cNvSpPr txBox="1"/>
          <p:nvPr/>
        </p:nvSpPr>
        <p:spPr>
          <a:xfrm>
            <a:off x="685800" y="5129784"/>
            <a:ext cx="5303520" cy="347472"/>
          </a:xfrm>
          <a:prstGeom prst="rect">
            <a:avLst/>
          </a:prstGeom>
          <a:noFill/>
        </p:spPr>
        <p:txBody>
          <a:bodyPr wrap="square">
            <a:spAutoFit/>
          </a:bodyPr>
          <a:lstStyle/>
          <a:p>
            <a:pPr algn="l"/>
            <a:r>
              <a:rPr sz="1200" b="1" i="0">
                <a:solidFill>
                  <a:srgbClr val="7C3AFF"/>
                </a:solidFill>
                <a:latin typeface="Segoe UI"/>
              </a:rPr>
              <a:t>  Passive Network Sniffer</a:t>
            </a:r>
          </a:p>
        </p:txBody>
      </p:sp>
      <p:sp>
        <p:nvSpPr>
          <p:cNvPr id="27" name="TextBox 26"/>
          <p:cNvSpPr txBox="1"/>
          <p:nvPr/>
        </p:nvSpPr>
        <p:spPr>
          <a:xfrm>
            <a:off x="685800" y="5477256"/>
            <a:ext cx="5303520" cy="475488"/>
          </a:xfrm>
          <a:prstGeom prst="rect">
            <a:avLst/>
          </a:prstGeom>
          <a:noFill/>
        </p:spPr>
        <p:txBody>
          <a:bodyPr wrap="square">
            <a:spAutoFit/>
          </a:bodyPr>
          <a:lstStyle/>
          <a:p>
            <a:pPr algn="l"/>
            <a:r>
              <a:rPr sz="950" b="0" i="0">
                <a:solidFill>
                  <a:srgbClr val="B8C5D6"/>
                </a:solidFill>
                <a:latin typeface="Segoe UI"/>
              </a:rPr>
              <a:t>A live packet sniffer (Scapy) monitors traffic, detects anomalous volume spikes, and feeds the anomaly detector engine continuously.</a:t>
            </a:r>
          </a:p>
        </p:txBody>
      </p:sp>
      <p:sp>
        <p:nvSpPr>
          <p:cNvPr id="28" name="Rectangle 27"/>
          <p:cNvSpPr/>
          <p:nvPr/>
        </p:nvSpPr>
        <p:spPr>
          <a:xfrm>
            <a:off x="6126480" y="1508760"/>
            <a:ext cx="27432" cy="5029200"/>
          </a:xfrm>
          <a:prstGeom prst="rect">
            <a:avLst/>
          </a:prstGeom>
          <a:solidFill>
            <a:srgbClr val="1F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1508760"/>
            <a:ext cx="36576" cy="804672"/>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1554480"/>
            <a:ext cx="365760" cy="411480"/>
          </a:xfrm>
          <a:prstGeom prst="rect">
            <a:avLst/>
          </a:prstGeom>
          <a:noFill/>
        </p:spPr>
        <p:txBody>
          <a:bodyPr wrap="square">
            <a:spAutoFit/>
          </a:bodyPr>
          <a:lstStyle/>
          <a:p>
            <a:pPr algn="l"/>
            <a:r>
              <a:rPr sz="1800" b="0" i="0">
                <a:solidFill>
                  <a:srgbClr val="00FFAA"/>
                </a:solidFill>
                <a:latin typeface="Segoe UI"/>
              </a:rPr>
              <a:t>🧠</a:t>
            </a:r>
          </a:p>
        </p:txBody>
      </p:sp>
      <p:sp>
        <p:nvSpPr>
          <p:cNvPr id="31" name="TextBox 30"/>
          <p:cNvSpPr txBox="1"/>
          <p:nvPr/>
        </p:nvSpPr>
        <p:spPr>
          <a:xfrm>
            <a:off x="6675120" y="1545336"/>
            <a:ext cx="5303520" cy="347472"/>
          </a:xfrm>
          <a:prstGeom prst="rect">
            <a:avLst/>
          </a:prstGeom>
          <a:noFill/>
        </p:spPr>
        <p:txBody>
          <a:bodyPr wrap="square">
            <a:spAutoFit/>
          </a:bodyPr>
          <a:lstStyle/>
          <a:p>
            <a:pPr algn="l"/>
            <a:r>
              <a:rPr sz="1200" b="1" i="0">
                <a:solidFill>
                  <a:srgbClr val="00FFAA"/>
                </a:solidFill>
                <a:latin typeface="Segoe UI"/>
              </a:rPr>
              <a:t>  Anomaly Detection Engine</a:t>
            </a:r>
          </a:p>
        </p:txBody>
      </p:sp>
      <p:sp>
        <p:nvSpPr>
          <p:cNvPr id="32" name="TextBox 31"/>
          <p:cNvSpPr txBox="1"/>
          <p:nvPr/>
        </p:nvSpPr>
        <p:spPr>
          <a:xfrm>
            <a:off x="6675120" y="1892808"/>
            <a:ext cx="5303520" cy="475488"/>
          </a:xfrm>
          <a:prstGeom prst="rect">
            <a:avLst/>
          </a:prstGeom>
          <a:noFill/>
        </p:spPr>
        <p:txBody>
          <a:bodyPr wrap="square">
            <a:spAutoFit/>
          </a:bodyPr>
          <a:lstStyle/>
          <a:p>
            <a:pPr algn="l"/>
            <a:r>
              <a:rPr sz="950" b="0" i="0">
                <a:solidFill>
                  <a:srgbClr val="B8C5D6"/>
                </a:solidFill>
                <a:latin typeface="Segoe UI"/>
              </a:rPr>
              <a:t>Statistical baseline modelling flags unusual bandwidth spikes, port scan patterns, and repeated connection failures as potential intrusion events.</a:t>
            </a:r>
          </a:p>
        </p:txBody>
      </p:sp>
      <p:sp>
        <p:nvSpPr>
          <p:cNvPr id="33" name="Rectangle 32"/>
          <p:cNvSpPr/>
          <p:nvPr/>
        </p:nvSpPr>
        <p:spPr>
          <a:xfrm>
            <a:off x="6217920" y="2404872"/>
            <a:ext cx="36576" cy="80467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2450592"/>
            <a:ext cx="365760" cy="411480"/>
          </a:xfrm>
          <a:prstGeom prst="rect">
            <a:avLst/>
          </a:prstGeom>
          <a:noFill/>
        </p:spPr>
        <p:txBody>
          <a:bodyPr wrap="square">
            <a:spAutoFit/>
          </a:bodyPr>
          <a:lstStyle/>
          <a:p>
            <a:pPr algn="l"/>
            <a:r>
              <a:rPr sz="1800" b="0" i="0">
                <a:solidFill>
                  <a:srgbClr val="00D4FF"/>
                </a:solidFill>
                <a:latin typeface="Segoe UI"/>
              </a:rPr>
              <a:t>🔐</a:t>
            </a:r>
          </a:p>
        </p:txBody>
      </p:sp>
      <p:sp>
        <p:nvSpPr>
          <p:cNvPr id="35" name="TextBox 34"/>
          <p:cNvSpPr txBox="1"/>
          <p:nvPr/>
        </p:nvSpPr>
        <p:spPr>
          <a:xfrm>
            <a:off x="6675120" y="2441448"/>
            <a:ext cx="5303520" cy="347472"/>
          </a:xfrm>
          <a:prstGeom prst="rect">
            <a:avLst/>
          </a:prstGeom>
          <a:noFill/>
        </p:spPr>
        <p:txBody>
          <a:bodyPr wrap="square">
            <a:spAutoFit/>
          </a:bodyPr>
          <a:lstStyle/>
          <a:p>
            <a:pPr algn="l"/>
            <a:r>
              <a:rPr sz="1200" b="1" i="0">
                <a:solidFill>
                  <a:srgbClr val="00D4FF"/>
                </a:solidFill>
                <a:latin typeface="Segoe UI"/>
              </a:rPr>
              <a:t>  RBAC Authentication (JWT)</a:t>
            </a:r>
          </a:p>
        </p:txBody>
      </p:sp>
      <p:sp>
        <p:nvSpPr>
          <p:cNvPr id="36" name="TextBox 35"/>
          <p:cNvSpPr txBox="1"/>
          <p:nvPr/>
        </p:nvSpPr>
        <p:spPr>
          <a:xfrm>
            <a:off x="6675120" y="2788920"/>
            <a:ext cx="5303520" cy="475488"/>
          </a:xfrm>
          <a:prstGeom prst="rect">
            <a:avLst/>
          </a:prstGeom>
          <a:noFill/>
        </p:spPr>
        <p:txBody>
          <a:bodyPr wrap="square">
            <a:spAutoFit/>
          </a:bodyPr>
          <a:lstStyle/>
          <a:p>
            <a:pPr algn="l"/>
            <a:r>
              <a:rPr sz="950" b="0" i="0">
                <a:solidFill>
                  <a:srgbClr val="B8C5D6"/>
                </a:solidFill>
                <a:latin typeface="Segoe UI"/>
              </a:rPr>
              <a:t>Role-based access control with JWT tokens: Super Admin, IT Admin, and Staff roles enforce least-privilege access across all API endpoints.</a:t>
            </a:r>
          </a:p>
        </p:txBody>
      </p:sp>
      <p:sp>
        <p:nvSpPr>
          <p:cNvPr id="37" name="Rectangle 36"/>
          <p:cNvSpPr/>
          <p:nvPr/>
        </p:nvSpPr>
        <p:spPr>
          <a:xfrm>
            <a:off x="6217920" y="3300984"/>
            <a:ext cx="36576"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3346704"/>
            <a:ext cx="365760" cy="411480"/>
          </a:xfrm>
          <a:prstGeom prst="rect">
            <a:avLst/>
          </a:prstGeom>
          <a:noFill/>
        </p:spPr>
        <p:txBody>
          <a:bodyPr wrap="square">
            <a:spAutoFit/>
          </a:bodyPr>
          <a:lstStyle/>
          <a:p>
            <a:pPr algn="l"/>
            <a:r>
              <a:rPr sz="1800" b="0" i="0">
                <a:solidFill>
                  <a:srgbClr val="FFA500"/>
                </a:solidFill>
                <a:latin typeface="Segoe UI"/>
              </a:rPr>
              <a:t>🛡</a:t>
            </a:r>
          </a:p>
        </p:txBody>
      </p:sp>
      <p:sp>
        <p:nvSpPr>
          <p:cNvPr id="39" name="TextBox 38"/>
          <p:cNvSpPr txBox="1"/>
          <p:nvPr/>
        </p:nvSpPr>
        <p:spPr>
          <a:xfrm>
            <a:off x="6675120" y="3337560"/>
            <a:ext cx="5303520" cy="347472"/>
          </a:xfrm>
          <a:prstGeom prst="rect">
            <a:avLst/>
          </a:prstGeom>
          <a:noFill/>
        </p:spPr>
        <p:txBody>
          <a:bodyPr wrap="square">
            <a:spAutoFit/>
          </a:bodyPr>
          <a:lstStyle/>
          <a:p>
            <a:pPr algn="l"/>
            <a:r>
              <a:rPr sz="1200" b="1" i="0">
                <a:solidFill>
                  <a:srgbClr val="FFA500"/>
                </a:solidFill>
                <a:latin typeface="Segoe UI"/>
              </a:rPr>
              <a:t>  Security Headers &amp; Rate Limiting</a:t>
            </a:r>
          </a:p>
        </p:txBody>
      </p:sp>
      <p:sp>
        <p:nvSpPr>
          <p:cNvPr id="40" name="TextBox 39"/>
          <p:cNvSpPr txBox="1"/>
          <p:nvPr/>
        </p:nvSpPr>
        <p:spPr>
          <a:xfrm>
            <a:off x="6675120" y="3685032"/>
            <a:ext cx="5303520" cy="475488"/>
          </a:xfrm>
          <a:prstGeom prst="rect">
            <a:avLst/>
          </a:prstGeom>
          <a:noFill/>
        </p:spPr>
        <p:txBody>
          <a:bodyPr wrap="square">
            <a:spAutoFit/>
          </a:bodyPr>
          <a:lstStyle/>
          <a:p>
            <a:pPr algn="l"/>
            <a:r>
              <a:rPr sz="950" b="0" i="0">
                <a:solidFill>
                  <a:srgbClr val="B8C5D6"/>
                </a:solidFill>
                <a:latin typeface="Segoe UI"/>
              </a:rPr>
              <a:t>HTTP security headers (CSP, X-Frame-Options, XSS-Protection) and a 200 req/min rate limiter protect the API from injection and brute-force attacks.</a:t>
            </a:r>
          </a:p>
        </p:txBody>
      </p:sp>
      <p:sp>
        <p:nvSpPr>
          <p:cNvPr id="41" name="Rectangle 40"/>
          <p:cNvSpPr/>
          <p:nvPr/>
        </p:nvSpPr>
        <p:spPr>
          <a:xfrm>
            <a:off x="6217920" y="4197096"/>
            <a:ext cx="36576" cy="804672"/>
          </a:xfrm>
          <a:prstGeom prst="rect">
            <a:avLst/>
          </a:prstGeom>
          <a:solidFill>
            <a:srgbClr val="FF4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0" y="4242816"/>
            <a:ext cx="365760" cy="411480"/>
          </a:xfrm>
          <a:prstGeom prst="rect">
            <a:avLst/>
          </a:prstGeom>
          <a:noFill/>
        </p:spPr>
        <p:txBody>
          <a:bodyPr wrap="square">
            <a:spAutoFit/>
          </a:bodyPr>
          <a:lstStyle/>
          <a:p>
            <a:pPr algn="l"/>
            <a:r>
              <a:rPr sz="1800" b="0" i="0">
                <a:solidFill>
                  <a:srgbClr val="FF455B"/>
                </a:solidFill>
                <a:latin typeface="Segoe UI"/>
              </a:rPr>
              <a:t>🦠</a:t>
            </a:r>
          </a:p>
        </p:txBody>
      </p:sp>
      <p:sp>
        <p:nvSpPr>
          <p:cNvPr id="43" name="TextBox 42"/>
          <p:cNvSpPr txBox="1"/>
          <p:nvPr/>
        </p:nvSpPr>
        <p:spPr>
          <a:xfrm>
            <a:off x="6675120" y="4233672"/>
            <a:ext cx="5303520" cy="347472"/>
          </a:xfrm>
          <a:prstGeom prst="rect">
            <a:avLst/>
          </a:prstGeom>
          <a:noFill/>
        </p:spPr>
        <p:txBody>
          <a:bodyPr wrap="square">
            <a:spAutoFit/>
          </a:bodyPr>
          <a:lstStyle/>
          <a:p>
            <a:pPr algn="l"/>
            <a:r>
              <a:rPr sz="1200" b="1" i="0">
                <a:solidFill>
                  <a:srgbClr val="FF455B"/>
                </a:solidFill>
                <a:latin typeface="Segoe UI"/>
              </a:rPr>
              <a:t>  CVE Vulnerability Correlation</a:t>
            </a:r>
          </a:p>
        </p:txBody>
      </p:sp>
      <p:sp>
        <p:nvSpPr>
          <p:cNvPr id="44" name="TextBox 43"/>
          <p:cNvSpPr txBox="1"/>
          <p:nvPr/>
        </p:nvSpPr>
        <p:spPr>
          <a:xfrm>
            <a:off x="6675120" y="4581144"/>
            <a:ext cx="5303520" cy="475488"/>
          </a:xfrm>
          <a:prstGeom prst="rect">
            <a:avLst/>
          </a:prstGeom>
          <a:noFill/>
        </p:spPr>
        <p:txBody>
          <a:bodyPr wrap="square">
            <a:spAutoFit/>
          </a:bodyPr>
          <a:lstStyle/>
          <a:p>
            <a:pPr algn="l"/>
            <a:r>
              <a:rPr sz="950" b="0" i="0">
                <a:solidFill>
                  <a:srgbClr val="B8C5D6"/>
                </a:solidFill>
                <a:latin typeface="Segoe UI"/>
              </a:rPr>
              <a:t>Device vendor strings are cross-referenced against the NVD CVE database to surface critical vulnerabilities for devices currently active on the network.</a:t>
            </a:r>
          </a:p>
        </p:txBody>
      </p:sp>
      <p:sp>
        <p:nvSpPr>
          <p:cNvPr id="45" name="Rectangle 44"/>
          <p:cNvSpPr/>
          <p:nvPr/>
        </p:nvSpPr>
        <p:spPr>
          <a:xfrm>
            <a:off x="6217920" y="5093208"/>
            <a:ext cx="36576" cy="804672"/>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09360" y="5138928"/>
            <a:ext cx="365760" cy="411480"/>
          </a:xfrm>
          <a:prstGeom prst="rect">
            <a:avLst/>
          </a:prstGeom>
          <a:noFill/>
        </p:spPr>
        <p:txBody>
          <a:bodyPr wrap="square">
            <a:spAutoFit/>
          </a:bodyPr>
          <a:lstStyle/>
          <a:p>
            <a:pPr algn="l"/>
            <a:r>
              <a:rPr sz="1800" b="0" i="0">
                <a:solidFill>
                  <a:srgbClr val="00FFAA"/>
                </a:solidFill>
                <a:latin typeface="Segoe UI"/>
              </a:rPr>
              <a:t>📋</a:t>
            </a:r>
          </a:p>
        </p:txBody>
      </p:sp>
      <p:sp>
        <p:nvSpPr>
          <p:cNvPr id="47" name="TextBox 46"/>
          <p:cNvSpPr txBox="1"/>
          <p:nvPr/>
        </p:nvSpPr>
        <p:spPr>
          <a:xfrm>
            <a:off x="6675120" y="5129784"/>
            <a:ext cx="5303520" cy="347472"/>
          </a:xfrm>
          <a:prstGeom prst="rect">
            <a:avLst/>
          </a:prstGeom>
          <a:noFill/>
        </p:spPr>
        <p:txBody>
          <a:bodyPr wrap="square">
            <a:spAutoFit/>
          </a:bodyPr>
          <a:lstStyle/>
          <a:p>
            <a:pPr algn="l"/>
            <a:r>
              <a:rPr sz="1200" b="1" i="0">
                <a:solidFill>
                  <a:srgbClr val="00FFAA"/>
                </a:solidFill>
                <a:latin typeface="Segoe UI"/>
              </a:rPr>
              <a:t>  Immutable Audit Logging</a:t>
            </a:r>
          </a:p>
        </p:txBody>
      </p:sp>
      <p:sp>
        <p:nvSpPr>
          <p:cNvPr id="48" name="TextBox 47"/>
          <p:cNvSpPr txBox="1"/>
          <p:nvPr/>
        </p:nvSpPr>
        <p:spPr>
          <a:xfrm>
            <a:off x="6675120" y="5477256"/>
            <a:ext cx="5303520" cy="475488"/>
          </a:xfrm>
          <a:prstGeom prst="rect">
            <a:avLst/>
          </a:prstGeom>
          <a:noFill/>
        </p:spPr>
        <p:txBody>
          <a:bodyPr wrap="square">
            <a:spAutoFit/>
          </a:bodyPr>
          <a:lstStyle/>
          <a:p>
            <a:pPr algn="l"/>
            <a:r>
              <a:rPr sz="950" b="0" i="0">
                <a:solidFill>
                  <a:srgbClr val="B8C5D6"/>
                </a:solidFill>
                <a:latin typeface="Segoe UI"/>
              </a:rPr>
              <a:t>Every security event—login, scan, trust toggle, block—is permanently recorded with user, IP, timestamp, and action. Logs are read-only and tamper-evident.</a:t>
            </a:r>
          </a:p>
        </p:txBody>
      </p:sp>
      <p:sp>
        <p:nvSpPr>
          <p:cNvPr id="49" name="Rectangle 48"/>
          <p:cNvSpPr/>
          <p:nvPr/>
        </p:nvSpPr>
        <p:spPr>
          <a:xfrm>
            <a:off x="0" y="6583680"/>
            <a:ext cx="12188952" cy="27432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6601968"/>
            <a:ext cx="11640312" cy="228600"/>
          </a:xfrm>
          <a:prstGeom prst="rect">
            <a:avLst/>
          </a:prstGeom>
          <a:noFill/>
        </p:spPr>
        <p:txBody>
          <a:bodyPr wrap="square">
            <a:spAutoFit/>
          </a:bodyPr>
          <a:lstStyle/>
          <a:p>
            <a:pPr algn="ctr"/>
            <a:r>
              <a:rPr sz="900" b="0" i="0">
                <a:solidFill>
                  <a:srgbClr val="647A96"/>
                </a:solidFill>
                <a:latin typeface="Segoe UI"/>
              </a:rPr>
              <a:t>Recon Network Systems Inc.  |  Slide 3 of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6094476" cy="54864"/>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4476" y="0"/>
            <a:ext cx="6094476"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4864"/>
            <a:ext cx="12188952" cy="100584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914400" cy="777240"/>
          </a:xfrm>
          <a:prstGeom prst="rect">
            <a:avLst/>
          </a:prstGeom>
          <a:noFill/>
        </p:spPr>
        <p:txBody>
          <a:bodyPr wrap="square">
            <a:spAutoFit/>
          </a:bodyPr>
          <a:lstStyle/>
          <a:p>
            <a:pPr algn="l"/>
            <a:r>
              <a:rPr sz="4800" b="1" i="0">
                <a:solidFill>
                  <a:srgbClr val="008BFF"/>
                </a:solidFill>
                <a:latin typeface="Segoe UI"/>
              </a:rPr>
              <a:t>04</a:t>
            </a:r>
          </a:p>
        </p:txBody>
      </p:sp>
      <p:sp>
        <p:nvSpPr>
          <p:cNvPr id="6" name="TextBox 5"/>
          <p:cNvSpPr txBox="1"/>
          <p:nvPr/>
        </p:nvSpPr>
        <p:spPr>
          <a:xfrm>
            <a:off x="1280160" y="137160"/>
            <a:ext cx="9601200" cy="411480"/>
          </a:xfrm>
          <a:prstGeom prst="rect">
            <a:avLst/>
          </a:prstGeom>
          <a:noFill/>
        </p:spPr>
        <p:txBody>
          <a:bodyPr wrap="square">
            <a:spAutoFit/>
          </a:bodyPr>
          <a:lstStyle/>
          <a:p>
            <a:pPr algn="l"/>
            <a:r>
              <a:rPr sz="2000" b="1" i="0">
                <a:solidFill>
                  <a:srgbClr val="FFFFFF"/>
                </a:solidFill>
                <a:latin typeface="Segoe UI"/>
              </a:rPr>
              <a:t>SECURITY DEPLOYMENT &amp; IMPLEMENTATION</a:t>
            </a:r>
          </a:p>
        </p:txBody>
      </p:sp>
      <p:sp>
        <p:nvSpPr>
          <p:cNvPr id="7" name="TextBox 6"/>
          <p:cNvSpPr txBox="1"/>
          <p:nvPr/>
        </p:nvSpPr>
        <p:spPr>
          <a:xfrm>
            <a:off x="1280160" y="548640"/>
            <a:ext cx="9601200" cy="365760"/>
          </a:xfrm>
          <a:prstGeom prst="rect">
            <a:avLst/>
          </a:prstGeom>
          <a:noFill/>
        </p:spPr>
        <p:txBody>
          <a:bodyPr wrap="square">
            <a:spAutoFit/>
          </a:bodyPr>
          <a:lstStyle/>
          <a:p>
            <a:pPr algn="l"/>
            <a:r>
              <a:rPr sz="1200" b="0" i="0">
                <a:solidFill>
                  <a:srgbClr val="647A96"/>
                </a:solidFill>
                <a:latin typeface="Segoe UI"/>
              </a:rPr>
              <a:t>System architecture, deployment environment, and implemented security mechanisms</a:t>
            </a:r>
          </a:p>
        </p:txBody>
      </p:sp>
      <p:sp>
        <p:nvSpPr>
          <p:cNvPr id="8" name="Oval 7"/>
          <p:cNvSpPr/>
          <p:nvPr/>
        </p:nvSpPr>
        <p:spPr>
          <a:xfrm>
            <a:off x="274320" y="1188720"/>
            <a:ext cx="914400" cy="914400"/>
          </a:xfrm>
          <a:prstGeom prst="ellipse">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800" b="1">
                <a:solidFill>
                  <a:srgbClr val="FFFFFF"/>
                </a:solidFill>
                <a:latin typeface="Segoe UI Symbol"/>
              </a:rPr>
              <a:t>🌐</a:t>
            </a:r>
          </a:p>
        </p:txBody>
      </p:sp>
      <p:sp>
        <p:nvSpPr>
          <p:cNvPr id="9" name="TextBox 8"/>
          <p:cNvSpPr txBox="1"/>
          <p:nvPr/>
        </p:nvSpPr>
        <p:spPr>
          <a:xfrm>
            <a:off x="182880" y="2148840"/>
            <a:ext cx="1097280" cy="274320"/>
          </a:xfrm>
          <a:prstGeom prst="rect">
            <a:avLst/>
          </a:prstGeom>
          <a:noFill/>
        </p:spPr>
        <p:txBody>
          <a:bodyPr wrap="square">
            <a:spAutoFit/>
          </a:bodyPr>
          <a:lstStyle/>
          <a:p>
            <a:pPr algn="ctr"/>
            <a:r>
              <a:rPr sz="900" b="0" i="0">
                <a:solidFill>
                  <a:srgbClr val="647A96"/>
                </a:solidFill>
                <a:latin typeface="Segoe UI"/>
              </a:rPr>
              <a:t>Internet</a:t>
            </a:r>
          </a:p>
        </p:txBody>
      </p:sp>
      <p:sp>
        <p:nvSpPr>
          <p:cNvPr id="10" name="Rectangle 9"/>
          <p:cNvSpPr/>
          <p:nvPr/>
        </p:nvSpPr>
        <p:spPr>
          <a:xfrm>
            <a:off x="1234440" y="1600200"/>
            <a:ext cx="502920" cy="54864"/>
          </a:xfrm>
          <a:prstGeom prst="rect">
            <a:avLst/>
          </a:prstGeom>
          <a:solidFill>
            <a:srgbClr val="647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0200" y="1499616"/>
            <a:ext cx="228600" cy="274320"/>
          </a:xfrm>
          <a:prstGeom prst="rect">
            <a:avLst/>
          </a:prstGeom>
          <a:noFill/>
        </p:spPr>
        <p:txBody>
          <a:bodyPr wrap="square">
            <a:spAutoFit/>
          </a:bodyPr>
          <a:lstStyle/>
          <a:p>
            <a:pPr algn="l"/>
            <a:r>
              <a:rPr sz="1000" b="0" i="0">
                <a:solidFill>
                  <a:srgbClr val="647A96"/>
                </a:solidFill>
                <a:latin typeface="Segoe UI"/>
              </a:rPr>
              <a:t>▶</a:t>
            </a:r>
          </a:p>
        </p:txBody>
      </p:sp>
      <p:sp>
        <p:nvSpPr>
          <p:cNvPr id="12" name="Rounded Rectangle 11"/>
          <p:cNvSpPr/>
          <p:nvPr/>
        </p:nvSpPr>
        <p:spPr>
          <a:xfrm>
            <a:off x="1737360" y="1234440"/>
            <a:ext cx="1188720" cy="868680"/>
          </a:xfrm>
          <a:prstGeom prst="roundRect">
            <a:avLst>
              <a:gd name="adj" fmla="val 5000"/>
            </a:avLst>
          </a:prstGeom>
          <a:solidFill>
            <a:srgbClr val="3D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37360" y="1243584"/>
            <a:ext cx="1188720" cy="822960"/>
          </a:xfrm>
          <a:prstGeom prst="rect">
            <a:avLst/>
          </a:prstGeom>
          <a:noFill/>
        </p:spPr>
        <p:txBody>
          <a:bodyPr wrap="square">
            <a:spAutoFit/>
          </a:bodyPr>
          <a:lstStyle/>
          <a:p>
            <a:pPr algn="ctr"/>
            <a:r>
              <a:rPr sz="1200" b="1" i="0">
                <a:solidFill>
                  <a:srgbClr val="FF455B"/>
                </a:solidFill>
                <a:latin typeface="Segoe UI"/>
              </a:rPr>
              <a:t>🔥
Firewall</a:t>
            </a:r>
          </a:p>
        </p:txBody>
      </p:sp>
      <p:sp>
        <p:nvSpPr>
          <p:cNvPr id="14" name="Rectangle 13"/>
          <p:cNvSpPr/>
          <p:nvPr/>
        </p:nvSpPr>
        <p:spPr>
          <a:xfrm>
            <a:off x="2971800" y="1600200"/>
            <a:ext cx="411480" cy="54864"/>
          </a:xfrm>
          <a:prstGeom prst="rect">
            <a:avLst/>
          </a:prstGeom>
          <a:solidFill>
            <a:srgbClr val="647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6120" y="1499616"/>
            <a:ext cx="228600" cy="274320"/>
          </a:xfrm>
          <a:prstGeom prst="rect">
            <a:avLst/>
          </a:prstGeom>
          <a:noFill/>
        </p:spPr>
        <p:txBody>
          <a:bodyPr wrap="square">
            <a:spAutoFit/>
          </a:bodyPr>
          <a:lstStyle/>
          <a:p>
            <a:pPr algn="l"/>
            <a:r>
              <a:rPr sz="1000" b="0" i="0">
                <a:solidFill>
                  <a:srgbClr val="647A96"/>
                </a:solidFill>
                <a:latin typeface="Segoe UI"/>
              </a:rPr>
              <a:t>▶</a:t>
            </a:r>
          </a:p>
        </p:txBody>
      </p:sp>
      <p:sp>
        <p:nvSpPr>
          <p:cNvPr id="16" name="Rounded Rectangle 15"/>
          <p:cNvSpPr/>
          <p:nvPr/>
        </p:nvSpPr>
        <p:spPr>
          <a:xfrm>
            <a:off x="3429000" y="1234440"/>
            <a:ext cx="1371600" cy="868680"/>
          </a:xfrm>
          <a:prstGeom prst="roundRect">
            <a:avLst>
              <a:gd name="adj" fmla="val 5000"/>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9000" y="1243584"/>
            <a:ext cx="1371600" cy="822960"/>
          </a:xfrm>
          <a:prstGeom prst="rect">
            <a:avLst/>
          </a:prstGeom>
          <a:noFill/>
        </p:spPr>
        <p:txBody>
          <a:bodyPr wrap="square">
            <a:spAutoFit/>
          </a:bodyPr>
          <a:lstStyle/>
          <a:p>
            <a:pPr algn="ctr"/>
            <a:r>
              <a:rPr sz="1200" b="1" i="0">
                <a:solidFill>
                  <a:srgbClr val="008BFF"/>
                </a:solidFill>
                <a:latin typeface="Segoe UI"/>
              </a:rPr>
              <a:t>🔀
Core Switch</a:t>
            </a:r>
          </a:p>
        </p:txBody>
      </p:sp>
      <p:sp>
        <p:nvSpPr>
          <p:cNvPr id="18" name="Rectangle 17"/>
          <p:cNvSpPr/>
          <p:nvPr/>
        </p:nvSpPr>
        <p:spPr>
          <a:xfrm>
            <a:off x="4096512" y="2121408"/>
            <a:ext cx="54864" cy="457200"/>
          </a:xfrm>
          <a:prstGeom prst="rect">
            <a:avLst/>
          </a:prstGeom>
          <a:solidFill>
            <a:srgbClr val="647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71600" y="2560320"/>
            <a:ext cx="8961120" cy="54864"/>
          </a:xfrm>
          <a:prstGeom prst="rect">
            <a:avLst/>
          </a:prstGeom>
          <a:solidFill>
            <a:srgbClr val="647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663440" y="1234440"/>
            <a:ext cx="1920240" cy="868680"/>
          </a:xfrm>
          <a:prstGeom prst="roundRect">
            <a:avLst>
              <a:gd name="adj" fmla="val 5000"/>
            </a:avLst>
          </a:prstGeom>
          <a:solidFill>
            <a:srgbClr val="0A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1243584"/>
            <a:ext cx="1920240" cy="822960"/>
          </a:xfrm>
          <a:prstGeom prst="rect">
            <a:avLst/>
          </a:prstGeom>
          <a:noFill/>
        </p:spPr>
        <p:txBody>
          <a:bodyPr wrap="square">
            <a:spAutoFit/>
          </a:bodyPr>
          <a:lstStyle/>
          <a:p>
            <a:pPr algn="ctr"/>
            <a:r>
              <a:rPr sz="1000" b="1" i="0">
                <a:solidFill>
                  <a:srgbClr val="00FFAA"/>
                </a:solidFill>
                <a:latin typeface="Segoe UI"/>
              </a:rPr>
              <a:t>🖥  Recon NDS Server
(FastAPI + SQLite)</a:t>
            </a:r>
          </a:p>
        </p:txBody>
      </p:sp>
      <p:sp>
        <p:nvSpPr>
          <p:cNvPr id="22" name="Rectangle 21"/>
          <p:cNvSpPr/>
          <p:nvPr/>
        </p:nvSpPr>
        <p:spPr>
          <a:xfrm>
            <a:off x="5596128" y="2121408"/>
            <a:ext cx="54864" cy="457200"/>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858000" y="1234440"/>
            <a:ext cx="1737360" cy="868680"/>
          </a:xfrm>
          <a:prstGeom prst="roundRect">
            <a:avLst>
              <a:gd name="adj" fmla="val 5000"/>
            </a:avLst>
          </a:prstGeom>
          <a:solidFill>
            <a:srgbClr val="1A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1243584"/>
            <a:ext cx="1737360" cy="822960"/>
          </a:xfrm>
          <a:prstGeom prst="rect">
            <a:avLst/>
          </a:prstGeom>
          <a:noFill/>
        </p:spPr>
        <p:txBody>
          <a:bodyPr wrap="square">
            <a:spAutoFit/>
          </a:bodyPr>
          <a:lstStyle/>
          <a:p>
            <a:pPr algn="ctr"/>
            <a:r>
              <a:rPr sz="1000" b="1" i="0">
                <a:solidFill>
                  <a:srgbClr val="7C3AFF"/>
                </a:solidFill>
                <a:latin typeface="Segoe UI"/>
              </a:rPr>
              <a:t>☁  Cloudflare
Tunnel (HTTPS)</a:t>
            </a:r>
          </a:p>
        </p:txBody>
      </p:sp>
      <p:sp>
        <p:nvSpPr>
          <p:cNvPr id="25" name="Rectangle 24"/>
          <p:cNvSpPr/>
          <p:nvPr/>
        </p:nvSpPr>
        <p:spPr>
          <a:xfrm>
            <a:off x="7708392" y="2121408"/>
            <a:ext cx="54864" cy="457200"/>
          </a:xfrm>
          <a:prstGeom prst="rect">
            <a:avLst/>
          </a:prstGeom>
          <a:solidFill>
            <a:srgbClr val="7C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823960" y="1234440"/>
            <a:ext cx="1645920" cy="868680"/>
          </a:xfrm>
          <a:prstGeom prst="roundRect">
            <a:avLst>
              <a:gd name="adj" fmla="val 5000"/>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23960" y="1243584"/>
            <a:ext cx="1645920" cy="822960"/>
          </a:xfrm>
          <a:prstGeom prst="rect">
            <a:avLst/>
          </a:prstGeom>
          <a:noFill/>
        </p:spPr>
        <p:txBody>
          <a:bodyPr wrap="square">
            <a:spAutoFit/>
          </a:bodyPr>
          <a:lstStyle/>
          <a:p>
            <a:pPr algn="ctr"/>
            <a:r>
              <a:rPr sz="1000" b="1" i="0">
                <a:solidFill>
                  <a:srgbClr val="00D4FF"/>
                </a:solidFill>
                <a:latin typeface="Segoe UI"/>
              </a:rPr>
              <a:t>💻  Admin
Browser (HTTPS)</a:t>
            </a:r>
          </a:p>
        </p:txBody>
      </p:sp>
      <p:sp>
        <p:nvSpPr>
          <p:cNvPr id="28" name="Rectangle 27"/>
          <p:cNvSpPr/>
          <p:nvPr/>
        </p:nvSpPr>
        <p:spPr>
          <a:xfrm>
            <a:off x="9628632" y="2121408"/>
            <a:ext cx="54864" cy="4572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920240" y="2587752"/>
            <a:ext cx="54864" cy="4572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08760" y="3063240"/>
            <a:ext cx="1188720" cy="1188720"/>
          </a:xfrm>
          <a:prstGeom prst="ellipse">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00D4FF"/>
                </a:solidFill>
                <a:latin typeface="Segoe UI Symbol"/>
              </a:rPr>
              <a:t>💻</a:t>
            </a:r>
          </a:p>
        </p:txBody>
      </p:sp>
      <p:sp>
        <p:nvSpPr>
          <p:cNvPr id="31" name="TextBox 30"/>
          <p:cNvSpPr txBox="1"/>
          <p:nvPr/>
        </p:nvSpPr>
        <p:spPr>
          <a:xfrm>
            <a:off x="1371600" y="4279392"/>
            <a:ext cx="1463040" cy="502920"/>
          </a:xfrm>
          <a:prstGeom prst="rect">
            <a:avLst/>
          </a:prstGeom>
          <a:noFill/>
        </p:spPr>
        <p:txBody>
          <a:bodyPr wrap="square">
            <a:spAutoFit/>
          </a:bodyPr>
          <a:lstStyle/>
          <a:p>
            <a:pPr algn="ctr"/>
            <a:r>
              <a:rPr sz="900" b="0" i="0">
                <a:solidFill>
                  <a:srgbClr val="00D4FF"/>
                </a:solidFill>
                <a:latin typeface="Segoe UI"/>
              </a:rPr>
              <a:t>Workstations
(LAN)</a:t>
            </a:r>
          </a:p>
        </p:txBody>
      </p:sp>
      <p:sp>
        <p:nvSpPr>
          <p:cNvPr id="32" name="Rectangle 31"/>
          <p:cNvSpPr/>
          <p:nvPr/>
        </p:nvSpPr>
        <p:spPr>
          <a:xfrm>
            <a:off x="3474720" y="2587752"/>
            <a:ext cx="54864" cy="457200"/>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063240" y="3063240"/>
            <a:ext cx="1188720" cy="1188720"/>
          </a:xfrm>
          <a:prstGeom prst="ellipse">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008BFF"/>
                </a:solidFill>
                <a:latin typeface="Segoe UI Symbol"/>
              </a:rPr>
              <a:t>📱</a:t>
            </a:r>
          </a:p>
        </p:txBody>
      </p:sp>
      <p:sp>
        <p:nvSpPr>
          <p:cNvPr id="34" name="TextBox 33"/>
          <p:cNvSpPr txBox="1"/>
          <p:nvPr/>
        </p:nvSpPr>
        <p:spPr>
          <a:xfrm>
            <a:off x="2926080" y="4279392"/>
            <a:ext cx="1463040" cy="502920"/>
          </a:xfrm>
          <a:prstGeom prst="rect">
            <a:avLst/>
          </a:prstGeom>
          <a:noFill/>
        </p:spPr>
        <p:txBody>
          <a:bodyPr wrap="square">
            <a:spAutoFit/>
          </a:bodyPr>
          <a:lstStyle/>
          <a:p>
            <a:pPr algn="ctr"/>
            <a:r>
              <a:rPr sz="900" b="0" i="0">
                <a:solidFill>
                  <a:srgbClr val="008BFF"/>
                </a:solidFill>
                <a:latin typeface="Segoe UI"/>
              </a:rPr>
              <a:t>Mobile
Devices</a:t>
            </a:r>
          </a:p>
        </p:txBody>
      </p:sp>
      <p:sp>
        <p:nvSpPr>
          <p:cNvPr id="35" name="Rectangle 34"/>
          <p:cNvSpPr/>
          <p:nvPr/>
        </p:nvSpPr>
        <p:spPr>
          <a:xfrm>
            <a:off x="5029200" y="2587752"/>
            <a:ext cx="54864" cy="4572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617720" y="3063240"/>
            <a:ext cx="1188720" cy="1188720"/>
          </a:xfrm>
          <a:prstGeom prst="ellipse">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A500"/>
                </a:solidFill>
                <a:latin typeface="Segoe UI Symbol"/>
              </a:rPr>
              <a:t>🖨</a:t>
            </a:r>
          </a:p>
        </p:txBody>
      </p:sp>
      <p:sp>
        <p:nvSpPr>
          <p:cNvPr id="37" name="TextBox 36"/>
          <p:cNvSpPr txBox="1"/>
          <p:nvPr/>
        </p:nvSpPr>
        <p:spPr>
          <a:xfrm>
            <a:off x="4480560" y="4279392"/>
            <a:ext cx="1463040" cy="502920"/>
          </a:xfrm>
          <a:prstGeom prst="rect">
            <a:avLst/>
          </a:prstGeom>
          <a:noFill/>
        </p:spPr>
        <p:txBody>
          <a:bodyPr wrap="square">
            <a:spAutoFit/>
          </a:bodyPr>
          <a:lstStyle/>
          <a:p>
            <a:pPr algn="ctr"/>
            <a:r>
              <a:rPr sz="900" b="0" i="0">
                <a:solidFill>
                  <a:srgbClr val="FFA500"/>
                </a:solidFill>
                <a:latin typeface="Segoe UI"/>
              </a:rPr>
              <a:t>Printers &amp;
IoT</a:t>
            </a:r>
          </a:p>
        </p:txBody>
      </p:sp>
      <p:sp>
        <p:nvSpPr>
          <p:cNvPr id="38" name="Rectangle 37"/>
          <p:cNvSpPr/>
          <p:nvPr/>
        </p:nvSpPr>
        <p:spPr>
          <a:xfrm>
            <a:off x="6583680" y="2587752"/>
            <a:ext cx="54864" cy="457200"/>
          </a:xfrm>
          <a:prstGeom prst="rect">
            <a:avLst/>
          </a:prstGeom>
          <a:solidFill>
            <a:srgbClr val="7C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172200" y="3063240"/>
            <a:ext cx="1188720" cy="1188720"/>
          </a:xfrm>
          <a:prstGeom prst="ellipse">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7C3AFF"/>
                </a:solidFill>
                <a:latin typeface="Segoe UI Symbol"/>
              </a:rPr>
              <a:t>📡</a:t>
            </a:r>
          </a:p>
        </p:txBody>
      </p:sp>
      <p:sp>
        <p:nvSpPr>
          <p:cNvPr id="40" name="TextBox 39"/>
          <p:cNvSpPr txBox="1"/>
          <p:nvPr/>
        </p:nvSpPr>
        <p:spPr>
          <a:xfrm>
            <a:off x="6035040" y="4279392"/>
            <a:ext cx="1463040" cy="502920"/>
          </a:xfrm>
          <a:prstGeom prst="rect">
            <a:avLst/>
          </a:prstGeom>
          <a:noFill/>
        </p:spPr>
        <p:txBody>
          <a:bodyPr wrap="square">
            <a:spAutoFit/>
          </a:bodyPr>
          <a:lstStyle/>
          <a:p>
            <a:pPr algn="ctr"/>
            <a:r>
              <a:rPr sz="900" b="0" i="0">
                <a:solidFill>
                  <a:srgbClr val="7C3AFF"/>
                </a:solidFill>
                <a:latin typeface="Segoe UI"/>
              </a:rPr>
              <a:t>Wi-Fi
Router (AP)</a:t>
            </a:r>
          </a:p>
        </p:txBody>
      </p:sp>
      <p:sp>
        <p:nvSpPr>
          <p:cNvPr id="41" name="Rectangle 40"/>
          <p:cNvSpPr/>
          <p:nvPr/>
        </p:nvSpPr>
        <p:spPr>
          <a:xfrm>
            <a:off x="8138160" y="2587752"/>
            <a:ext cx="54864" cy="457200"/>
          </a:xfrm>
          <a:prstGeom prst="rect">
            <a:avLst/>
          </a:prstGeom>
          <a:solidFill>
            <a:srgbClr val="FF4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26680" y="3063240"/>
            <a:ext cx="1188720" cy="1188720"/>
          </a:xfrm>
          <a:prstGeom prst="ellipse">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455B"/>
                </a:solidFill>
                <a:latin typeface="Segoe UI Symbol"/>
              </a:rPr>
              <a:t>❓</a:t>
            </a:r>
          </a:p>
        </p:txBody>
      </p:sp>
      <p:sp>
        <p:nvSpPr>
          <p:cNvPr id="43" name="TextBox 42"/>
          <p:cNvSpPr txBox="1"/>
          <p:nvPr/>
        </p:nvSpPr>
        <p:spPr>
          <a:xfrm>
            <a:off x="7589520" y="4279392"/>
            <a:ext cx="1463040" cy="502920"/>
          </a:xfrm>
          <a:prstGeom prst="rect">
            <a:avLst/>
          </a:prstGeom>
          <a:noFill/>
        </p:spPr>
        <p:txBody>
          <a:bodyPr wrap="square">
            <a:spAutoFit/>
          </a:bodyPr>
          <a:lstStyle/>
          <a:p>
            <a:pPr algn="ctr"/>
            <a:r>
              <a:rPr sz="900" b="0" i="0">
                <a:solidFill>
                  <a:srgbClr val="FF455B"/>
                </a:solidFill>
                <a:latin typeface="Segoe UI"/>
              </a:rPr>
              <a:t>Unknown
Devices</a:t>
            </a:r>
          </a:p>
        </p:txBody>
      </p:sp>
      <p:sp>
        <p:nvSpPr>
          <p:cNvPr id="44" name="Rectangle 43"/>
          <p:cNvSpPr/>
          <p:nvPr/>
        </p:nvSpPr>
        <p:spPr>
          <a:xfrm>
            <a:off x="9692640" y="2587752"/>
            <a:ext cx="54864" cy="457200"/>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281160" y="3063240"/>
            <a:ext cx="1188720" cy="1188720"/>
          </a:xfrm>
          <a:prstGeom prst="ellipse">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00FFAA"/>
                </a:solidFill>
                <a:latin typeface="Segoe UI Symbol"/>
              </a:rPr>
              <a:t>🏢</a:t>
            </a:r>
          </a:p>
        </p:txBody>
      </p:sp>
      <p:sp>
        <p:nvSpPr>
          <p:cNvPr id="46" name="TextBox 45"/>
          <p:cNvSpPr txBox="1"/>
          <p:nvPr/>
        </p:nvSpPr>
        <p:spPr>
          <a:xfrm>
            <a:off x="9144000" y="4279392"/>
            <a:ext cx="1463040" cy="502920"/>
          </a:xfrm>
          <a:prstGeom prst="rect">
            <a:avLst/>
          </a:prstGeom>
          <a:noFill/>
        </p:spPr>
        <p:txBody>
          <a:bodyPr wrap="square">
            <a:spAutoFit/>
          </a:bodyPr>
          <a:lstStyle/>
          <a:p>
            <a:pPr algn="ctr"/>
            <a:r>
              <a:rPr sz="900" b="0" i="0">
                <a:solidFill>
                  <a:srgbClr val="00FFAA"/>
                </a:solidFill>
                <a:latin typeface="Segoe UI"/>
              </a:rPr>
              <a:t>Servers &amp;
NAS</a:t>
            </a:r>
          </a:p>
        </p:txBody>
      </p:sp>
      <p:sp>
        <p:nvSpPr>
          <p:cNvPr id="47" name="Rectangle 46"/>
          <p:cNvSpPr/>
          <p:nvPr/>
        </p:nvSpPr>
        <p:spPr>
          <a:xfrm>
            <a:off x="228600" y="4983480"/>
            <a:ext cx="11731752" cy="146304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5029200"/>
            <a:ext cx="5486400" cy="347472"/>
          </a:xfrm>
          <a:prstGeom prst="rect">
            <a:avLst/>
          </a:prstGeom>
          <a:noFill/>
        </p:spPr>
        <p:txBody>
          <a:bodyPr wrap="square">
            <a:spAutoFit/>
          </a:bodyPr>
          <a:lstStyle/>
          <a:p>
            <a:pPr algn="l"/>
            <a:r>
              <a:rPr sz="1300" b="1" i="0">
                <a:solidFill>
                  <a:srgbClr val="00D4FF"/>
                </a:solidFill>
                <a:latin typeface="Segoe UI"/>
              </a:rPr>
              <a:t>🔐  Implemented Security Mechanisms</a:t>
            </a:r>
          </a:p>
        </p:txBody>
      </p:sp>
      <p:sp>
        <p:nvSpPr>
          <p:cNvPr id="49" name="TextBox 48"/>
          <p:cNvSpPr txBox="1"/>
          <p:nvPr/>
        </p:nvSpPr>
        <p:spPr>
          <a:xfrm>
            <a:off x="365760" y="5440680"/>
            <a:ext cx="2834640" cy="320040"/>
          </a:xfrm>
          <a:prstGeom prst="rect">
            <a:avLst/>
          </a:prstGeom>
          <a:noFill/>
        </p:spPr>
        <p:txBody>
          <a:bodyPr wrap="square">
            <a:spAutoFit/>
          </a:bodyPr>
          <a:lstStyle/>
          <a:p>
            <a:pPr algn="l"/>
            <a:r>
              <a:rPr sz="1050" b="0" i="0">
                <a:solidFill>
                  <a:srgbClr val="00D4FF"/>
                </a:solidFill>
                <a:latin typeface="Segoe UI"/>
              </a:rPr>
              <a:t>  🔒 HTTPS/TLS Encryption</a:t>
            </a:r>
          </a:p>
        </p:txBody>
      </p:sp>
      <p:sp>
        <p:nvSpPr>
          <p:cNvPr id="50" name="TextBox 49"/>
          <p:cNvSpPr txBox="1"/>
          <p:nvPr/>
        </p:nvSpPr>
        <p:spPr>
          <a:xfrm>
            <a:off x="3291840" y="5440680"/>
            <a:ext cx="2834640" cy="320040"/>
          </a:xfrm>
          <a:prstGeom prst="rect">
            <a:avLst/>
          </a:prstGeom>
          <a:noFill/>
        </p:spPr>
        <p:txBody>
          <a:bodyPr wrap="square">
            <a:spAutoFit/>
          </a:bodyPr>
          <a:lstStyle/>
          <a:p>
            <a:pPr algn="l"/>
            <a:r>
              <a:rPr sz="1050" b="0" i="0">
                <a:solidFill>
                  <a:srgbClr val="008BFF"/>
                </a:solidFill>
                <a:latin typeface="Segoe UI"/>
              </a:rPr>
              <a:t>  🔑 JWT Auth + RBAC</a:t>
            </a:r>
          </a:p>
        </p:txBody>
      </p:sp>
      <p:sp>
        <p:nvSpPr>
          <p:cNvPr id="51" name="TextBox 50"/>
          <p:cNvSpPr txBox="1"/>
          <p:nvPr/>
        </p:nvSpPr>
        <p:spPr>
          <a:xfrm>
            <a:off x="6217920" y="5440680"/>
            <a:ext cx="2834640" cy="320040"/>
          </a:xfrm>
          <a:prstGeom prst="rect">
            <a:avLst/>
          </a:prstGeom>
          <a:noFill/>
        </p:spPr>
        <p:txBody>
          <a:bodyPr wrap="square">
            <a:spAutoFit/>
          </a:bodyPr>
          <a:lstStyle/>
          <a:p>
            <a:pPr algn="l"/>
            <a:r>
              <a:rPr sz="1050" b="0" i="0">
                <a:solidFill>
                  <a:srgbClr val="7C3AFF"/>
                </a:solidFill>
                <a:latin typeface="Segoe UI"/>
              </a:rPr>
              <a:t>  🛡 Security HTTP Headers</a:t>
            </a:r>
          </a:p>
        </p:txBody>
      </p:sp>
      <p:sp>
        <p:nvSpPr>
          <p:cNvPr id="52" name="TextBox 51"/>
          <p:cNvSpPr txBox="1"/>
          <p:nvPr/>
        </p:nvSpPr>
        <p:spPr>
          <a:xfrm>
            <a:off x="9144000" y="5440680"/>
            <a:ext cx="2834640" cy="320040"/>
          </a:xfrm>
          <a:prstGeom prst="rect">
            <a:avLst/>
          </a:prstGeom>
          <a:noFill/>
        </p:spPr>
        <p:txBody>
          <a:bodyPr wrap="square">
            <a:spAutoFit/>
          </a:bodyPr>
          <a:lstStyle/>
          <a:p>
            <a:pPr algn="l"/>
            <a:r>
              <a:rPr sz="1050" b="0" i="0">
                <a:solidFill>
                  <a:srgbClr val="FFA500"/>
                </a:solidFill>
                <a:latin typeface="Segoe UI"/>
              </a:rPr>
              <a:t>  ⚡ Rate Limiting (200/min)</a:t>
            </a:r>
          </a:p>
        </p:txBody>
      </p:sp>
      <p:sp>
        <p:nvSpPr>
          <p:cNvPr id="53" name="TextBox 52"/>
          <p:cNvSpPr txBox="1"/>
          <p:nvPr/>
        </p:nvSpPr>
        <p:spPr>
          <a:xfrm>
            <a:off x="365760" y="5788152"/>
            <a:ext cx="2834640" cy="320040"/>
          </a:xfrm>
          <a:prstGeom prst="rect">
            <a:avLst/>
          </a:prstGeom>
          <a:noFill/>
        </p:spPr>
        <p:txBody>
          <a:bodyPr wrap="square">
            <a:spAutoFit/>
          </a:bodyPr>
          <a:lstStyle/>
          <a:p>
            <a:pPr algn="l"/>
            <a:r>
              <a:rPr sz="1050" b="0" i="0">
                <a:solidFill>
                  <a:srgbClr val="00FFAA"/>
                </a:solidFill>
                <a:latin typeface="Segoe UI"/>
              </a:rPr>
              <a:t>  🌐 Cloudflare Tunnel</a:t>
            </a:r>
          </a:p>
        </p:txBody>
      </p:sp>
      <p:sp>
        <p:nvSpPr>
          <p:cNvPr id="54" name="TextBox 53"/>
          <p:cNvSpPr txBox="1"/>
          <p:nvPr/>
        </p:nvSpPr>
        <p:spPr>
          <a:xfrm>
            <a:off x="3291840" y="5788152"/>
            <a:ext cx="2834640" cy="320040"/>
          </a:xfrm>
          <a:prstGeom prst="rect">
            <a:avLst/>
          </a:prstGeom>
          <a:noFill/>
        </p:spPr>
        <p:txBody>
          <a:bodyPr wrap="square">
            <a:spAutoFit/>
          </a:bodyPr>
          <a:lstStyle/>
          <a:p>
            <a:pPr algn="l"/>
            <a:r>
              <a:rPr sz="1050" b="0" i="0">
                <a:solidFill>
                  <a:srgbClr val="FF455B"/>
                </a:solidFill>
                <a:latin typeface="Segoe UI"/>
              </a:rPr>
              <a:t>  📡 Real-time WebSocket Alerts</a:t>
            </a:r>
          </a:p>
        </p:txBody>
      </p:sp>
      <p:sp>
        <p:nvSpPr>
          <p:cNvPr id="55" name="TextBox 54"/>
          <p:cNvSpPr txBox="1"/>
          <p:nvPr/>
        </p:nvSpPr>
        <p:spPr>
          <a:xfrm>
            <a:off x="6217920" y="5788152"/>
            <a:ext cx="2834640" cy="320040"/>
          </a:xfrm>
          <a:prstGeom prst="rect">
            <a:avLst/>
          </a:prstGeom>
          <a:noFill/>
        </p:spPr>
        <p:txBody>
          <a:bodyPr wrap="square">
            <a:spAutoFit/>
          </a:bodyPr>
          <a:lstStyle/>
          <a:p>
            <a:pPr algn="l"/>
            <a:r>
              <a:rPr sz="1050" b="0" i="0">
                <a:solidFill>
                  <a:srgbClr val="00D4FF"/>
                </a:solidFill>
                <a:latin typeface="Segoe UI"/>
              </a:rPr>
              <a:t>  🔬 Nmap Port Scanning</a:t>
            </a:r>
          </a:p>
        </p:txBody>
      </p:sp>
      <p:sp>
        <p:nvSpPr>
          <p:cNvPr id="56" name="TextBox 55"/>
          <p:cNvSpPr txBox="1"/>
          <p:nvPr/>
        </p:nvSpPr>
        <p:spPr>
          <a:xfrm>
            <a:off x="9144000" y="5788152"/>
            <a:ext cx="2834640" cy="320040"/>
          </a:xfrm>
          <a:prstGeom prst="rect">
            <a:avLst/>
          </a:prstGeom>
          <a:noFill/>
        </p:spPr>
        <p:txBody>
          <a:bodyPr wrap="square">
            <a:spAutoFit/>
          </a:bodyPr>
          <a:lstStyle/>
          <a:p>
            <a:pPr algn="l"/>
            <a:r>
              <a:rPr sz="1050" b="0" i="0">
                <a:solidFill>
                  <a:srgbClr val="FFA500"/>
                </a:solidFill>
                <a:latin typeface="Segoe UI"/>
              </a:rPr>
              <a:t>  📋 Immutable Audit Logs</a:t>
            </a:r>
          </a:p>
        </p:txBody>
      </p:sp>
      <p:sp>
        <p:nvSpPr>
          <p:cNvPr id="57" name="Rectangle 56"/>
          <p:cNvSpPr/>
          <p:nvPr/>
        </p:nvSpPr>
        <p:spPr>
          <a:xfrm>
            <a:off x="0" y="6583680"/>
            <a:ext cx="12188952" cy="27432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4320" y="6601968"/>
            <a:ext cx="11640312" cy="228600"/>
          </a:xfrm>
          <a:prstGeom prst="rect">
            <a:avLst/>
          </a:prstGeom>
          <a:noFill/>
        </p:spPr>
        <p:txBody>
          <a:bodyPr wrap="square">
            <a:spAutoFit/>
          </a:bodyPr>
          <a:lstStyle/>
          <a:p>
            <a:pPr algn="ctr"/>
            <a:r>
              <a:rPr sz="900" b="0" i="0">
                <a:solidFill>
                  <a:srgbClr val="647A96"/>
                </a:solidFill>
                <a:latin typeface="Segoe UI"/>
              </a:rPr>
              <a:t>Recon Network Systems Inc.  |  Slide 4 of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6094476" cy="54864"/>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4476" y="0"/>
            <a:ext cx="6094476"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4864"/>
            <a:ext cx="12188952" cy="100584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914400" cy="777240"/>
          </a:xfrm>
          <a:prstGeom prst="rect">
            <a:avLst/>
          </a:prstGeom>
          <a:noFill/>
        </p:spPr>
        <p:txBody>
          <a:bodyPr wrap="square">
            <a:spAutoFit/>
          </a:bodyPr>
          <a:lstStyle/>
          <a:p>
            <a:pPr algn="l"/>
            <a:r>
              <a:rPr sz="4800" b="1" i="0">
                <a:solidFill>
                  <a:srgbClr val="00FFAA"/>
                </a:solidFill>
                <a:latin typeface="Segoe UI"/>
              </a:rPr>
              <a:t>05</a:t>
            </a:r>
          </a:p>
        </p:txBody>
      </p:sp>
      <p:sp>
        <p:nvSpPr>
          <p:cNvPr id="6" name="TextBox 5"/>
          <p:cNvSpPr txBox="1"/>
          <p:nvPr/>
        </p:nvSpPr>
        <p:spPr>
          <a:xfrm>
            <a:off x="1280160" y="137160"/>
            <a:ext cx="9601200" cy="411480"/>
          </a:xfrm>
          <a:prstGeom prst="rect">
            <a:avLst/>
          </a:prstGeom>
          <a:noFill/>
        </p:spPr>
        <p:txBody>
          <a:bodyPr wrap="square">
            <a:spAutoFit/>
          </a:bodyPr>
          <a:lstStyle/>
          <a:p>
            <a:pPr algn="l"/>
            <a:r>
              <a:rPr sz="2000" b="1" i="0">
                <a:solidFill>
                  <a:srgbClr val="FFFFFF"/>
                </a:solidFill>
                <a:latin typeface="Segoe UI"/>
              </a:rPr>
              <a:t>SECURITY SOLUTION — PROJECT DEMONSTRATION</a:t>
            </a:r>
          </a:p>
        </p:txBody>
      </p:sp>
      <p:sp>
        <p:nvSpPr>
          <p:cNvPr id="7" name="TextBox 6"/>
          <p:cNvSpPr txBox="1"/>
          <p:nvPr/>
        </p:nvSpPr>
        <p:spPr>
          <a:xfrm>
            <a:off x="1280160" y="548640"/>
            <a:ext cx="9601200" cy="365760"/>
          </a:xfrm>
          <a:prstGeom prst="rect">
            <a:avLst/>
          </a:prstGeom>
          <a:noFill/>
        </p:spPr>
        <p:txBody>
          <a:bodyPr wrap="square">
            <a:spAutoFit/>
          </a:bodyPr>
          <a:lstStyle/>
          <a:p>
            <a:pPr algn="l"/>
            <a:r>
              <a:rPr sz="1200" b="0" i="0">
                <a:solidFill>
                  <a:srgbClr val="647A96"/>
                </a:solidFill>
                <a:latin typeface="Segoe UI"/>
              </a:rPr>
              <a:t>How Recon NDS mitigates identified threats and enhances CIA triad across the network</a:t>
            </a:r>
          </a:p>
        </p:txBody>
      </p:sp>
      <p:sp>
        <p:nvSpPr>
          <p:cNvPr id="8" name="Rounded Rectangle 7"/>
          <p:cNvSpPr/>
          <p:nvPr/>
        </p:nvSpPr>
        <p:spPr>
          <a:xfrm>
            <a:off x="228600" y="1143000"/>
            <a:ext cx="3749039" cy="7772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143000"/>
            <a:ext cx="3749039" cy="50292"/>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234440"/>
            <a:ext cx="457200" cy="411480"/>
          </a:xfrm>
          <a:prstGeom prst="rect">
            <a:avLst/>
          </a:prstGeom>
          <a:noFill/>
        </p:spPr>
        <p:txBody>
          <a:bodyPr wrap="square">
            <a:spAutoFit/>
          </a:bodyPr>
          <a:lstStyle/>
          <a:p>
            <a:pPr algn="l"/>
            <a:r>
              <a:rPr sz="1800" b="0" i="0">
                <a:solidFill>
                  <a:srgbClr val="008BFF"/>
                </a:solidFill>
                <a:latin typeface="Segoe UI"/>
              </a:rPr>
              <a:t>🔒</a:t>
            </a:r>
          </a:p>
        </p:txBody>
      </p:sp>
      <p:sp>
        <p:nvSpPr>
          <p:cNvPr id="11" name="TextBox 10"/>
          <p:cNvSpPr txBox="1"/>
          <p:nvPr/>
        </p:nvSpPr>
        <p:spPr>
          <a:xfrm>
            <a:off x="822960" y="1207008"/>
            <a:ext cx="2286000" cy="320040"/>
          </a:xfrm>
          <a:prstGeom prst="rect">
            <a:avLst/>
          </a:prstGeom>
          <a:noFill/>
        </p:spPr>
        <p:txBody>
          <a:bodyPr wrap="square">
            <a:spAutoFit/>
          </a:bodyPr>
          <a:lstStyle/>
          <a:p>
            <a:pPr algn="l"/>
            <a:r>
              <a:rPr sz="1200" b="1" i="0">
                <a:solidFill>
                  <a:srgbClr val="008BFF"/>
                </a:solidFill>
                <a:latin typeface="Segoe UI"/>
              </a:rPr>
              <a:t>CONFIDENTIALITY</a:t>
            </a:r>
          </a:p>
        </p:txBody>
      </p:sp>
      <p:sp>
        <p:nvSpPr>
          <p:cNvPr id="12" name="TextBox 11"/>
          <p:cNvSpPr txBox="1"/>
          <p:nvPr/>
        </p:nvSpPr>
        <p:spPr>
          <a:xfrm>
            <a:off x="822960" y="1508760"/>
            <a:ext cx="3063240" cy="320040"/>
          </a:xfrm>
          <a:prstGeom prst="rect">
            <a:avLst/>
          </a:prstGeom>
          <a:noFill/>
        </p:spPr>
        <p:txBody>
          <a:bodyPr wrap="square">
            <a:spAutoFit/>
          </a:bodyPr>
          <a:lstStyle/>
          <a:p>
            <a:pPr algn="l"/>
            <a:r>
              <a:rPr sz="900" b="0" i="0">
                <a:solidFill>
                  <a:srgbClr val="B8C5D6"/>
                </a:solidFill>
                <a:latin typeface="Segoe UI"/>
              </a:rPr>
              <a:t>JWT auth, RBAC, HTTPS/TLS, security headers</a:t>
            </a:r>
          </a:p>
        </p:txBody>
      </p:sp>
      <p:sp>
        <p:nvSpPr>
          <p:cNvPr id="13" name="Rounded Rectangle 12"/>
          <p:cNvSpPr/>
          <p:nvPr/>
        </p:nvSpPr>
        <p:spPr>
          <a:xfrm>
            <a:off x="4206239" y="1143000"/>
            <a:ext cx="3749039" cy="7772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39" y="1143000"/>
            <a:ext cx="3749039" cy="50292"/>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399" y="1234440"/>
            <a:ext cx="457200" cy="411480"/>
          </a:xfrm>
          <a:prstGeom prst="rect">
            <a:avLst/>
          </a:prstGeom>
          <a:noFill/>
        </p:spPr>
        <p:txBody>
          <a:bodyPr wrap="square">
            <a:spAutoFit/>
          </a:bodyPr>
          <a:lstStyle/>
          <a:p>
            <a:pPr algn="l"/>
            <a:r>
              <a:rPr sz="1800" b="0" i="0">
                <a:solidFill>
                  <a:srgbClr val="00FFAA"/>
                </a:solidFill>
                <a:latin typeface="Segoe UI"/>
              </a:rPr>
              <a:t>✅</a:t>
            </a:r>
          </a:p>
        </p:txBody>
      </p:sp>
      <p:sp>
        <p:nvSpPr>
          <p:cNvPr id="16" name="TextBox 15"/>
          <p:cNvSpPr txBox="1"/>
          <p:nvPr/>
        </p:nvSpPr>
        <p:spPr>
          <a:xfrm>
            <a:off x="4800599" y="1207008"/>
            <a:ext cx="2286000" cy="320040"/>
          </a:xfrm>
          <a:prstGeom prst="rect">
            <a:avLst/>
          </a:prstGeom>
          <a:noFill/>
        </p:spPr>
        <p:txBody>
          <a:bodyPr wrap="square">
            <a:spAutoFit/>
          </a:bodyPr>
          <a:lstStyle/>
          <a:p>
            <a:pPr algn="l"/>
            <a:r>
              <a:rPr sz="1200" b="1" i="0">
                <a:solidFill>
                  <a:srgbClr val="00FFAA"/>
                </a:solidFill>
                <a:latin typeface="Segoe UI"/>
              </a:rPr>
              <a:t>INTEGRITY</a:t>
            </a:r>
          </a:p>
        </p:txBody>
      </p:sp>
      <p:sp>
        <p:nvSpPr>
          <p:cNvPr id="17" name="TextBox 16"/>
          <p:cNvSpPr txBox="1"/>
          <p:nvPr/>
        </p:nvSpPr>
        <p:spPr>
          <a:xfrm>
            <a:off x="4800599" y="1508760"/>
            <a:ext cx="3063240" cy="320040"/>
          </a:xfrm>
          <a:prstGeom prst="rect">
            <a:avLst/>
          </a:prstGeom>
          <a:noFill/>
        </p:spPr>
        <p:txBody>
          <a:bodyPr wrap="square">
            <a:spAutoFit/>
          </a:bodyPr>
          <a:lstStyle/>
          <a:p>
            <a:pPr algn="l"/>
            <a:r>
              <a:rPr sz="900" b="0" i="0">
                <a:solidFill>
                  <a:srgbClr val="B8C5D6"/>
                </a:solidFill>
                <a:latin typeface="Segoe UI"/>
              </a:rPr>
              <a:t>Immutable audit logs, MAC binding, trust registry</a:t>
            </a:r>
          </a:p>
        </p:txBody>
      </p:sp>
      <p:sp>
        <p:nvSpPr>
          <p:cNvPr id="18" name="Rounded Rectangle 17"/>
          <p:cNvSpPr/>
          <p:nvPr/>
        </p:nvSpPr>
        <p:spPr>
          <a:xfrm>
            <a:off x="8183878" y="1143000"/>
            <a:ext cx="3749039" cy="7772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8" y="1143000"/>
            <a:ext cx="3749039"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8" y="1234440"/>
            <a:ext cx="457200" cy="411480"/>
          </a:xfrm>
          <a:prstGeom prst="rect">
            <a:avLst/>
          </a:prstGeom>
          <a:noFill/>
        </p:spPr>
        <p:txBody>
          <a:bodyPr wrap="square">
            <a:spAutoFit/>
          </a:bodyPr>
          <a:lstStyle/>
          <a:p>
            <a:pPr algn="l"/>
            <a:r>
              <a:rPr sz="1800" b="0" i="0">
                <a:solidFill>
                  <a:srgbClr val="00D4FF"/>
                </a:solidFill>
                <a:latin typeface="Segoe UI"/>
              </a:rPr>
              <a:t>🌐</a:t>
            </a:r>
          </a:p>
        </p:txBody>
      </p:sp>
      <p:sp>
        <p:nvSpPr>
          <p:cNvPr id="21" name="TextBox 20"/>
          <p:cNvSpPr txBox="1"/>
          <p:nvPr/>
        </p:nvSpPr>
        <p:spPr>
          <a:xfrm>
            <a:off x="8778238" y="1207008"/>
            <a:ext cx="2286000" cy="320040"/>
          </a:xfrm>
          <a:prstGeom prst="rect">
            <a:avLst/>
          </a:prstGeom>
          <a:noFill/>
        </p:spPr>
        <p:txBody>
          <a:bodyPr wrap="square">
            <a:spAutoFit/>
          </a:bodyPr>
          <a:lstStyle/>
          <a:p>
            <a:pPr algn="l"/>
            <a:r>
              <a:rPr sz="1200" b="1" i="0">
                <a:solidFill>
                  <a:srgbClr val="00D4FF"/>
                </a:solidFill>
                <a:latin typeface="Segoe UI"/>
              </a:rPr>
              <a:t>AVAILABILITY</a:t>
            </a:r>
          </a:p>
        </p:txBody>
      </p:sp>
      <p:sp>
        <p:nvSpPr>
          <p:cNvPr id="22" name="TextBox 21"/>
          <p:cNvSpPr txBox="1"/>
          <p:nvPr/>
        </p:nvSpPr>
        <p:spPr>
          <a:xfrm>
            <a:off x="8778238" y="1508760"/>
            <a:ext cx="3063240" cy="320040"/>
          </a:xfrm>
          <a:prstGeom prst="rect">
            <a:avLst/>
          </a:prstGeom>
          <a:noFill/>
        </p:spPr>
        <p:txBody>
          <a:bodyPr wrap="square">
            <a:spAutoFit/>
          </a:bodyPr>
          <a:lstStyle/>
          <a:p>
            <a:pPr algn="l"/>
            <a:r>
              <a:rPr sz="900" b="0" i="0">
                <a:solidFill>
                  <a:srgbClr val="B8C5D6"/>
                </a:solidFill>
                <a:latin typeface="Segoe UI"/>
              </a:rPr>
              <a:t>Scheduled scans, rate limiting, WebSocket monitoring</a:t>
            </a:r>
          </a:p>
        </p:txBody>
      </p:sp>
      <p:sp>
        <p:nvSpPr>
          <p:cNvPr id="23" name="Rounded Rectangle 22"/>
          <p:cNvSpPr/>
          <p:nvPr/>
        </p:nvSpPr>
        <p:spPr>
          <a:xfrm>
            <a:off x="228600" y="2057400"/>
            <a:ext cx="3749039" cy="12344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28600" y="2057400"/>
            <a:ext cx="45720" cy="12344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38328" y="2167128"/>
            <a:ext cx="411480" cy="4114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ymbol"/>
              </a:rPr>
              <a:t>1</a:t>
            </a:r>
          </a:p>
        </p:txBody>
      </p:sp>
      <p:sp>
        <p:nvSpPr>
          <p:cNvPr id="26" name="TextBox 25"/>
          <p:cNvSpPr txBox="1"/>
          <p:nvPr/>
        </p:nvSpPr>
        <p:spPr>
          <a:xfrm>
            <a:off x="822960" y="2148840"/>
            <a:ext cx="3063239" cy="384048"/>
          </a:xfrm>
          <a:prstGeom prst="rect">
            <a:avLst/>
          </a:prstGeom>
          <a:noFill/>
        </p:spPr>
        <p:txBody>
          <a:bodyPr wrap="square">
            <a:spAutoFit/>
          </a:bodyPr>
          <a:lstStyle/>
          <a:p>
            <a:pPr algn="l"/>
            <a:r>
              <a:rPr sz="1200" b="1" i="0">
                <a:solidFill>
                  <a:srgbClr val="00D4FF"/>
                </a:solidFill>
                <a:latin typeface="Segoe UI"/>
              </a:rPr>
              <a:t>🔍 Scan Trigger</a:t>
            </a:r>
          </a:p>
        </p:txBody>
      </p:sp>
      <p:sp>
        <p:nvSpPr>
          <p:cNvPr id="27" name="TextBox 26"/>
          <p:cNvSpPr txBox="1"/>
          <p:nvPr/>
        </p:nvSpPr>
        <p:spPr>
          <a:xfrm>
            <a:off x="338328" y="2551176"/>
            <a:ext cx="3547871" cy="685800"/>
          </a:xfrm>
          <a:prstGeom prst="rect">
            <a:avLst/>
          </a:prstGeom>
          <a:noFill/>
        </p:spPr>
        <p:txBody>
          <a:bodyPr wrap="square">
            <a:spAutoFit/>
          </a:bodyPr>
          <a:lstStyle/>
          <a:p>
            <a:pPr algn="l"/>
            <a:r>
              <a:rPr sz="1000" b="0" i="0">
                <a:solidFill>
                  <a:srgbClr val="B8C5D6"/>
                </a:solidFill>
                <a:latin typeface="Segoe UI"/>
              </a:rPr>
              <a:t>Admin clicks 'Scan Now' or scheduler fires every 15 min. Recon NDS sweeps the LAN subnet using Nmap, detecting all active hosts.</a:t>
            </a:r>
          </a:p>
        </p:txBody>
      </p:sp>
      <p:sp>
        <p:nvSpPr>
          <p:cNvPr id="28" name="Rounded Rectangle 27"/>
          <p:cNvSpPr/>
          <p:nvPr/>
        </p:nvSpPr>
        <p:spPr>
          <a:xfrm>
            <a:off x="4114799" y="2057400"/>
            <a:ext cx="3749039" cy="12344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799" y="2057400"/>
            <a:ext cx="45720" cy="1234440"/>
          </a:xfrm>
          <a:prstGeom prst="rect">
            <a:avLst/>
          </a:prstGeom>
          <a:solidFill>
            <a:srgbClr val="FF4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224527" y="2167128"/>
            <a:ext cx="411480" cy="411480"/>
          </a:xfrm>
          <a:prstGeom prst="ellipse">
            <a:avLst/>
          </a:prstGeom>
          <a:solidFill>
            <a:srgbClr val="FF455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ymbol"/>
              </a:rPr>
              <a:t>2</a:t>
            </a:r>
          </a:p>
        </p:txBody>
      </p:sp>
      <p:sp>
        <p:nvSpPr>
          <p:cNvPr id="31" name="TextBox 30"/>
          <p:cNvSpPr txBox="1"/>
          <p:nvPr/>
        </p:nvSpPr>
        <p:spPr>
          <a:xfrm>
            <a:off x="4709159" y="2148840"/>
            <a:ext cx="3063239" cy="384048"/>
          </a:xfrm>
          <a:prstGeom prst="rect">
            <a:avLst/>
          </a:prstGeom>
          <a:noFill/>
        </p:spPr>
        <p:txBody>
          <a:bodyPr wrap="square">
            <a:spAutoFit/>
          </a:bodyPr>
          <a:lstStyle/>
          <a:p>
            <a:pPr algn="l"/>
            <a:r>
              <a:rPr sz="1200" b="1" i="0">
                <a:solidFill>
                  <a:srgbClr val="FF455B"/>
                </a:solidFill>
                <a:latin typeface="Segoe UI"/>
              </a:rPr>
              <a:t>🚨 Unknown Device Alert</a:t>
            </a:r>
          </a:p>
        </p:txBody>
      </p:sp>
      <p:sp>
        <p:nvSpPr>
          <p:cNvPr id="32" name="TextBox 31"/>
          <p:cNvSpPr txBox="1"/>
          <p:nvPr/>
        </p:nvSpPr>
        <p:spPr>
          <a:xfrm>
            <a:off x="4224527" y="2551176"/>
            <a:ext cx="3547871" cy="685800"/>
          </a:xfrm>
          <a:prstGeom prst="rect">
            <a:avLst/>
          </a:prstGeom>
          <a:noFill/>
        </p:spPr>
        <p:txBody>
          <a:bodyPr wrap="square">
            <a:spAutoFit/>
          </a:bodyPr>
          <a:lstStyle/>
          <a:p>
            <a:pPr algn="l"/>
            <a:r>
              <a:rPr sz="1000" b="0" i="0">
                <a:solidFill>
                  <a:srgbClr val="B8C5D6"/>
                </a:solidFill>
                <a:latin typeface="Segoe UI"/>
              </a:rPr>
              <a:t>A new MAC address is discovered. The system immediately flags it as Unknown, raises a Dashboard alert, and queues an async port scan.</a:t>
            </a:r>
          </a:p>
        </p:txBody>
      </p:sp>
      <p:sp>
        <p:nvSpPr>
          <p:cNvPr id="33" name="Rounded Rectangle 32"/>
          <p:cNvSpPr/>
          <p:nvPr/>
        </p:nvSpPr>
        <p:spPr>
          <a:xfrm>
            <a:off x="8000998" y="2057400"/>
            <a:ext cx="3749039" cy="12344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00998" y="2057400"/>
            <a:ext cx="45720" cy="1234440"/>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110726" y="2167128"/>
            <a:ext cx="411480" cy="411480"/>
          </a:xfrm>
          <a:prstGeom prst="ellipse">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ymbol"/>
              </a:rPr>
              <a:t>3</a:t>
            </a:r>
          </a:p>
        </p:txBody>
      </p:sp>
      <p:sp>
        <p:nvSpPr>
          <p:cNvPr id="36" name="TextBox 35"/>
          <p:cNvSpPr txBox="1"/>
          <p:nvPr/>
        </p:nvSpPr>
        <p:spPr>
          <a:xfrm>
            <a:off x="8595358" y="2148840"/>
            <a:ext cx="3063239" cy="384048"/>
          </a:xfrm>
          <a:prstGeom prst="rect">
            <a:avLst/>
          </a:prstGeom>
          <a:noFill/>
        </p:spPr>
        <p:txBody>
          <a:bodyPr wrap="square">
            <a:spAutoFit/>
          </a:bodyPr>
          <a:lstStyle/>
          <a:p>
            <a:pPr algn="l"/>
            <a:r>
              <a:rPr sz="1200" b="1" i="0">
                <a:solidFill>
                  <a:srgbClr val="008BFF"/>
                </a:solidFill>
                <a:latin typeface="Segoe UI"/>
              </a:rPr>
              <a:t>🔬 Device Profiling</a:t>
            </a:r>
          </a:p>
        </p:txBody>
      </p:sp>
      <p:sp>
        <p:nvSpPr>
          <p:cNvPr id="37" name="TextBox 36"/>
          <p:cNvSpPr txBox="1"/>
          <p:nvPr/>
        </p:nvSpPr>
        <p:spPr>
          <a:xfrm>
            <a:off x="8110726" y="2551176"/>
            <a:ext cx="3547871" cy="685800"/>
          </a:xfrm>
          <a:prstGeom prst="rect">
            <a:avLst/>
          </a:prstGeom>
          <a:noFill/>
        </p:spPr>
        <p:txBody>
          <a:bodyPr wrap="square">
            <a:spAutoFit/>
          </a:bodyPr>
          <a:lstStyle/>
          <a:p>
            <a:pPr algn="l"/>
            <a:r>
              <a:rPr sz="1000" b="0" i="0">
                <a:solidFill>
                  <a:srgbClr val="B8C5D6"/>
                </a:solidFill>
                <a:latin typeface="Segoe UI"/>
              </a:rPr>
              <a:t>Nmap port scan runs on the unknown device. Open ports (22, 80, 443, 445…) and vendor strings identify the device as a laptop/server/printer.</a:t>
            </a:r>
          </a:p>
        </p:txBody>
      </p:sp>
      <p:sp>
        <p:nvSpPr>
          <p:cNvPr id="38" name="Rounded Rectangle 37"/>
          <p:cNvSpPr/>
          <p:nvPr/>
        </p:nvSpPr>
        <p:spPr>
          <a:xfrm>
            <a:off x="228600" y="3429000"/>
            <a:ext cx="3749039" cy="12344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28600" y="3429000"/>
            <a:ext cx="45720" cy="1234440"/>
          </a:xfrm>
          <a:prstGeom prst="rect">
            <a:avLst/>
          </a:prstGeom>
          <a:solidFill>
            <a:srgbClr val="7C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38328" y="3538728"/>
            <a:ext cx="411480" cy="411480"/>
          </a:xfrm>
          <a:prstGeom prst="ellipse">
            <a:avLst/>
          </a:prstGeom>
          <a:solidFill>
            <a:srgbClr val="7C3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ymbol"/>
              </a:rPr>
              <a:t>4</a:t>
            </a:r>
          </a:p>
        </p:txBody>
      </p:sp>
      <p:sp>
        <p:nvSpPr>
          <p:cNvPr id="41" name="TextBox 40"/>
          <p:cNvSpPr txBox="1"/>
          <p:nvPr/>
        </p:nvSpPr>
        <p:spPr>
          <a:xfrm>
            <a:off x="822960" y="3520440"/>
            <a:ext cx="3063239" cy="384048"/>
          </a:xfrm>
          <a:prstGeom prst="rect">
            <a:avLst/>
          </a:prstGeom>
          <a:noFill/>
        </p:spPr>
        <p:txBody>
          <a:bodyPr wrap="square">
            <a:spAutoFit/>
          </a:bodyPr>
          <a:lstStyle/>
          <a:p>
            <a:pPr algn="l"/>
            <a:r>
              <a:rPr sz="1200" b="1" i="0">
                <a:solidFill>
                  <a:srgbClr val="7C3AFF"/>
                </a:solidFill>
                <a:latin typeface="Segoe UI"/>
              </a:rPr>
              <a:t>🛡 Admin Decision</a:t>
            </a:r>
          </a:p>
        </p:txBody>
      </p:sp>
      <p:sp>
        <p:nvSpPr>
          <p:cNvPr id="42" name="TextBox 41"/>
          <p:cNvSpPr txBox="1"/>
          <p:nvPr/>
        </p:nvSpPr>
        <p:spPr>
          <a:xfrm>
            <a:off x="338328" y="3922776"/>
            <a:ext cx="3547871" cy="685800"/>
          </a:xfrm>
          <a:prstGeom prst="rect">
            <a:avLst/>
          </a:prstGeom>
          <a:noFill/>
        </p:spPr>
        <p:txBody>
          <a:bodyPr wrap="square">
            <a:spAutoFit/>
          </a:bodyPr>
          <a:lstStyle/>
          <a:p>
            <a:pPr algn="l"/>
            <a:r>
              <a:rPr sz="1000" b="0" i="0">
                <a:solidFill>
                  <a:srgbClr val="B8C5D6"/>
                </a:solidFill>
                <a:latin typeface="Segoe UI"/>
              </a:rPr>
              <a:t>Admin reviews the enriched device profile. They assign Owner, Department, and Device Type, then Approve (is_trusted=1) or Block the device.</a:t>
            </a:r>
          </a:p>
        </p:txBody>
      </p:sp>
      <p:sp>
        <p:nvSpPr>
          <p:cNvPr id="43" name="Rounded Rectangle 42"/>
          <p:cNvSpPr/>
          <p:nvPr/>
        </p:nvSpPr>
        <p:spPr>
          <a:xfrm>
            <a:off x="4114799" y="3429000"/>
            <a:ext cx="3749039" cy="12344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799" y="3429000"/>
            <a:ext cx="45720" cy="12344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224527" y="3538728"/>
            <a:ext cx="411480" cy="411480"/>
          </a:xfrm>
          <a:prstGeom prst="ellipse">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ymbol"/>
              </a:rPr>
              <a:t>5</a:t>
            </a:r>
          </a:p>
        </p:txBody>
      </p:sp>
      <p:sp>
        <p:nvSpPr>
          <p:cNvPr id="46" name="TextBox 45"/>
          <p:cNvSpPr txBox="1"/>
          <p:nvPr/>
        </p:nvSpPr>
        <p:spPr>
          <a:xfrm>
            <a:off x="4709159" y="3520440"/>
            <a:ext cx="3063239" cy="384048"/>
          </a:xfrm>
          <a:prstGeom prst="rect">
            <a:avLst/>
          </a:prstGeom>
          <a:noFill/>
        </p:spPr>
        <p:txBody>
          <a:bodyPr wrap="square">
            <a:spAutoFit/>
          </a:bodyPr>
          <a:lstStyle/>
          <a:p>
            <a:pPr algn="l"/>
            <a:r>
              <a:rPr sz="1200" b="1" i="0">
                <a:solidFill>
                  <a:srgbClr val="FFA500"/>
                </a:solidFill>
                <a:latin typeface="Segoe UI"/>
              </a:rPr>
              <a:t>🕵 MAC Spoofing Detection</a:t>
            </a:r>
          </a:p>
        </p:txBody>
      </p:sp>
      <p:sp>
        <p:nvSpPr>
          <p:cNvPr id="47" name="TextBox 46"/>
          <p:cNvSpPr txBox="1"/>
          <p:nvPr/>
        </p:nvSpPr>
        <p:spPr>
          <a:xfrm>
            <a:off x="4224527" y="3922776"/>
            <a:ext cx="3547871" cy="685800"/>
          </a:xfrm>
          <a:prstGeom prst="rect">
            <a:avLst/>
          </a:prstGeom>
          <a:noFill/>
        </p:spPr>
        <p:txBody>
          <a:bodyPr wrap="square">
            <a:spAutoFit/>
          </a:bodyPr>
          <a:lstStyle/>
          <a:p>
            <a:pPr algn="l"/>
            <a:r>
              <a:rPr sz="1000" b="0" i="0">
                <a:solidFill>
                  <a:srgbClr val="B8C5D6"/>
                </a:solidFill>
                <a:latin typeface="Segoe UI"/>
              </a:rPr>
              <a:t>Live WebSocket comparison: if device at a trusted IP reports a different MAC, a CRITICAL MAC_SPOOFING_ALERT fires in real-time.</a:t>
            </a:r>
          </a:p>
        </p:txBody>
      </p:sp>
      <p:sp>
        <p:nvSpPr>
          <p:cNvPr id="48" name="Rounded Rectangle 47"/>
          <p:cNvSpPr/>
          <p:nvPr/>
        </p:nvSpPr>
        <p:spPr>
          <a:xfrm>
            <a:off x="8000998" y="3429000"/>
            <a:ext cx="3749039" cy="123444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000998" y="3429000"/>
            <a:ext cx="45720" cy="1234440"/>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110726" y="3538728"/>
            <a:ext cx="411480" cy="411480"/>
          </a:xfrm>
          <a:prstGeom prst="ellipse">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ymbol"/>
              </a:rPr>
              <a:t>6</a:t>
            </a:r>
          </a:p>
        </p:txBody>
      </p:sp>
      <p:sp>
        <p:nvSpPr>
          <p:cNvPr id="51" name="TextBox 50"/>
          <p:cNvSpPr txBox="1"/>
          <p:nvPr/>
        </p:nvSpPr>
        <p:spPr>
          <a:xfrm>
            <a:off x="8595358" y="3520440"/>
            <a:ext cx="3063239" cy="384048"/>
          </a:xfrm>
          <a:prstGeom prst="rect">
            <a:avLst/>
          </a:prstGeom>
          <a:noFill/>
        </p:spPr>
        <p:txBody>
          <a:bodyPr wrap="square">
            <a:spAutoFit/>
          </a:bodyPr>
          <a:lstStyle/>
          <a:p>
            <a:pPr algn="l"/>
            <a:r>
              <a:rPr sz="1200" b="1" i="0">
                <a:solidFill>
                  <a:srgbClr val="00FFAA"/>
                </a:solidFill>
                <a:latin typeface="Segoe UI"/>
              </a:rPr>
              <a:t>📋 Audit Trail</a:t>
            </a:r>
          </a:p>
        </p:txBody>
      </p:sp>
      <p:sp>
        <p:nvSpPr>
          <p:cNvPr id="52" name="TextBox 51"/>
          <p:cNvSpPr txBox="1"/>
          <p:nvPr/>
        </p:nvSpPr>
        <p:spPr>
          <a:xfrm>
            <a:off x="8110726" y="3922776"/>
            <a:ext cx="3547871" cy="685800"/>
          </a:xfrm>
          <a:prstGeom prst="rect">
            <a:avLst/>
          </a:prstGeom>
          <a:noFill/>
        </p:spPr>
        <p:txBody>
          <a:bodyPr wrap="square">
            <a:spAutoFit/>
          </a:bodyPr>
          <a:lstStyle/>
          <a:p>
            <a:pPr algn="l"/>
            <a:r>
              <a:rPr sz="1000" b="0" i="0">
                <a:solidFill>
                  <a:srgbClr val="B8C5D6"/>
                </a:solidFill>
                <a:latin typeface="Segoe UI"/>
              </a:rPr>
              <a:t>Every action is permanently logged: scan events, trust toggles, blocks, logins — creating a full forensic timeline for incident response.</a:t>
            </a:r>
          </a:p>
        </p:txBody>
      </p:sp>
      <p:sp>
        <p:nvSpPr>
          <p:cNvPr id="53" name="Rectangle 52"/>
          <p:cNvSpPr/>
          <p:nvPr/>
        </p:nvSpPr>
        <p:spPr>
          <a:xfrm>
            <a:off x="228600" y="4663440"/>
            <a:ext cx="11731752"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28600" y="4754880"/>
            <a:ext cx="11731752" cy="1645920"/>
          </a:xfrm>
          <a:prstGeom prst="roundRect">
            <a:avLst>
              <a:gd name="adj" fmla="val 5000"/>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80" y="4828032"/>
            <a:ext cx="3657600" cy="347472"/>
          </a:xfrm>
          <a:prstGeom prst="rect">
            <a:avLst/>
          </a:prstGeom>
          <a:noFill/>
        </p:spPr>
        <p:txBody>
          <a:bodyPr wrap="square">
            <a:spAutoFit/>
          </a:bodyPr>
          <a:lstStyle/>
          <a:p>
            <a:pPr algn="l"/>
            <a:r>
              <a:rPr sz="1400" b="1" i="0">
                <a:solidFill>
                  <a:srgbClr val="00D4FF"/>
                </a:solidFill>
                <a:latin typeface="Segoe UI"/>
              </a:rPr>
              <a:t>🎯  Security Outcome</a:t>
            </a:r>
          </a:p>
        </p:txBody>
      </p:sp>
      <p:sp>
        <p:nvSpPr>
          <p:cNvPr id="56" name="TextBox 55"/>
          <p:cNvSpPr txBox="1"/>
          <p:nvPr/>
        </p:nvSpPr>
        <p:spPr>
          <a:xfrm>
            <a:off x="411480" y="5193792"/>
            <a:ext cx="11503152" cy="1097280"/>
          </a:xfrm>
          <a:prstGeom prst="rect">
            <a:avLst/>
          </a:prstGeom>
          <a:noFill/>
        </p:spPr>
        <p:txBody>
          <a:bodyPr wrap="square">
            <a:spAutoFit/>
          </a:bodyPr>
          <a:lstStyle/>
          <a:p>
            <a:pPr algn="l"/>
            <a:r>
              <a:rPr sz="1100" b="0" i="0">
                <a:solidFill>
                  <a:srgbClr val="B8C5D6"/>
                </a:solidFill>
                <a:latin typeface="Segoe UI"/>
              </a:rPr>
              <a:t>Recon NDS delivers full-stack network security visibility — from real-time device discovery and MAC spoofing detection, to CVE correlation, role-based access control, and tamper-evident audit logging. It effectively addresses unauthorized access, network blind spots, ARP attacks, and accountability gaps, significantly enhancing the Confidentiality, Integrity, and Availability of the organization's information systems and network infrastructure.</a:t>
            </a:r>
          </a:p>
        </p:txBody>
      </p:sp>
      <p:sp>
        <p:nvSpPr>
          <p:cNvPr id="57" name="Rectangle 56"/>
          <p:cNvSpPr/>
          <p:nvPr/>
        </p:nvSpPr>
        <p:spPr>
          <a:xfrm>
            <a:off x="0" y="6583680"/>
            <a:ext cx="12188952" cy="274320"/>
          </a:xfrm>
          <a:prstGeom prst="rect">
            <a:avLst/>
          </a:prstGeom>
          <a:solidFill>
            <a:srgbClr val="131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4320" y="6601968"/>
            <a:ext cx="11640312" cy="228600"/>
          </a:xfrm>
          <a:prstGeom prst="rect">
            <a:avLst/>
          </a:prstGeom>
          <a:noFill/>
        </p:spPr>
        <p:txBody>
          <a:bodyPr wrap="square">
            <a:spAutoFit/>
          </a:bodyPr>
          <a:lstStyle/>
          <a:p>
            <a:pPr algn="ctr"/>
            <a:r>
              <a:rPr sz="900" b="0" i="0">
                <a:solidFill>
                  <a:srgbClr val="647A96"/>
                </a:solidFill>
                <a:latin typeface="Segoe UI"/>
              </a:rPr>
              <a:t>Recon Network Systems Inc.  |  Slide 5 of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