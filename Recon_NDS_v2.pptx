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3657600" cy="685800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005840"/>
            <a:ext cx="1188720" cy="11887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170432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C0F16"/>
                </a:solidFill>
                <a:latin typeface="Poppins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423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oppins"/>
              </a:rPr>
              <a:t>Recon 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Poppins"/>
              </a:rPr>
              <a:t>Network Device Scanner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2743200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Subject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Poppins"/>
              </a:rPr>
              <a:t>Cybersecurity Systems &amp; Architecture</a:t>
            </a:r>
          </a:p>
          <a:p>
            <a:pPr algn="l">
              <a:spcBef>
                <a:spcPts val="1000"/>
              </a:spcBef>
            </a:pPr>
            <a:r>
              <a:rPr sz="900" b="0" i="0">
                <a:solidFill>
                  <a:srgbClr val="94A3B8"/>
                </a:solidFill>
                <a:latin typeface="Poppins"/>
              </a:rPr>
              <a:t>Presenter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Poppins"/>
              </a:rPr>
              <a:t>BS Information Technology</a:t>
            </a:r>
          </a:p>
          <a:p>
            <a:pPr algn="l"/>
            <a:r>
              <a:rPr sz="1000" b="0" i="0">
                <a:solidFill>
                  <a:srgbClr val="38BDF8"/>
                </a:solidFill>
                <a:latin typeface="Poppins"/>
              </a:rPr>
              <a:t>Network Security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5486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Poppins"/>
              </a:rP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9601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Poppins"/>
              </a:rPr>
              <a:t>A Network Security
Monitoring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Poppins"/>
              </a:rPr>
              <a:t>Recon NDS detects, identifies, and manages all devices on your network in real time — alerting administrators to threats before they escalate.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108960"/>
            <a:ext cx="7772400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23360" y="32918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0" y="329184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429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Poppins"/>
              </a:rPr>
              <a:t>Live Scanning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94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Poppins"/>
              </a:rPr>
              <a:t>Nmap-based subnet sweeps every 15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2918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3291840"/>
            <a:ext cx="36576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429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Poppins"/>
              </a:rPr>
              <a:t>Threat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94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Poppins"/>
              </a:rPr>
              <a:t>Instant alerts for unknown or spoofed devices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4348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3657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572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Poppins"/>
              </a:rPr>
              <a:t>Audit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937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Poppins"/>
              </a:rPr>
              <a:t>Immutable log of every security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44348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4434840"/>
            <a:ext cx="3657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572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Poppins"/>
              </a:rPr>
              <a:t>CVE Correlation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937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Poppins"/>
              </a:rPr>
              <a:t>Cross-reference devices against known CVEs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760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D52"/>
                </a:solidFill>
                <a:latin typeface="Poppins"/>
              </a:rPr>
              <a:t>Python  ·  FastAPI  ·  Nmap  ·  SQLite  ·  WebSocket  ·  Scapy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D52"/>
                </a:solidFill>
                <a:latin typeface="Poppins"/>
              </a:rPr>
              <a:t>RECON NDS  ·  Network Device Scanner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664768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D52"/>
                </a:solidFill>
                <a:latin typeface="Poppin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12188952" cy="118872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87171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Security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oppins"/>
              </a:rPr>
              <a:t>Cybersecurity issues observed within the organization's network and information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7160"/>
            <a:ext cx="25400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141732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3749039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Poppins"/>
              </a:rPr>
              <a:t>Unauthorized Device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20240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" y="2098548"/>
            <a:ext cx="64008" cy="640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11680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Devices join the network without any verification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" y="2446020"/>
            <a:ext cx="64008" cy="640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359152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No mechanism to block or review unknown hardware</a:t>
            </a:r>
          </a:p>
        </p:txBody>
      </p:sp>
      <p:sp>
        <p:nvSpPr>
          <p:cNvPr id="16" name="Oval 15"/>
          <p:cNvSpPr/>
          <p:nvPr/>
        </p:nvSpPr>
        <p:spPr>
          <a:xfrm>
            <a:off x="443484" y="2793492"/>
            <a:ext cx="64008" cy="640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70662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Risk: data exfiltration and lateral movement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1" y="141732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2231" y="1417320"/>
            <a:ext cx="3749039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1" y="152704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Poppins"/>
              </a:rPr>
              <a:t>ARP / MAC Spoofing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1" y="1920240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57115" y="2098548"/>
            <a:ext cx="64008" cy="640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3" y="2011680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Attackers forge ARP replies to intercept traffic</a:t>
            </a:r>
          </a:p>
        </p:txBody>
      </p:sp>
      <p:sp>
        <p:nvSpPr>
          <p:cNvPr id="24" name="Oval 23"/>
          <p:cNvSpPr/>
          <p:nvPr/>
        </p:nvSpPr>
        <p:spPr>
          <a:xfrm>
            <a:off x="4357115" y="2446020"/>
            <a:ext cx="64008" cy="640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9703" y="2359152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Trusted IP mapped to a malicious MAC address</a:t>
            </a:r>
          </a:p>
        </p:txBody>
      </p:sp>
      <p:sp>
        <p:nvSpPr>
          <p:cNvPr id="26" name="Oval 25"/>
          <p:cNvSpPr/>
          <p:nvPr/>
        </p:nvSpPr>
        <p:spPr>
          <a:xfrm>
            <a:off x="4357115" y="2793492"/>
            <a:ext cx="64008" cy="640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3" y="270662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Enables man-in-the-middle attacks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5862" y="141732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55862" y="1417320"/>
            <a:ext cx="3749039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2" y="152704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Poppins"/>
              </a:rPr>
              <a:t>Zero Network Visibility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2" y="1920240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0746" y="2098548"/>
            <a:ext cx="64008" cy="640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4" y="2011680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No real-time view of connected devices</a:t>
            </a:r>
          </a:p>
        </p:txBody>
      </p:sp>
      <p:sp>
        <p:nvSpPr>
          <p:cNvPr id="34" name="Oval 33"/>
          <p:cNvSpPr/>
          <p:nvPr/>
        </p:nvSpPr>
        <p:spPr>
          <a:xfrm>
            <a:off x="8270746" y="2446020"/>
            <a:ext cx="64008" cy="640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4" y="2359152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IT teams unaware of rogue or inactive assets</a:t>
            </a:r>
          </a:p>
        </p:txBody>
      </p:sp>
      <p:sp>
        <p:nvSpPr>
          <p:cNvPr id="36" name="Oval 35"/>
          <p:cNvSpPr/>
          <p:nvPr/>
        </p:nvSpPr>
        <p:spPr>
          <a:xfrm>
            <a:off x="8270746" y="2793492"/>
            <a:ext cx="64008" cy="640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4" y="270662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Threat dwell time is extended significantly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3392424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" y="3392424"/>
            <a:ext cx="3749039" cy="36576"/>
          </a:xfrm>
          <a:prstGeom prst="rect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50215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8CFF"/>
                </a:solidFill>
                <a:latin typeface="Poppins"/>
              </a:rPr>
              <a:t>Unpatched CVE Exposure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895344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3484" y="4073652"/>
            <a:ext cx="64008" cy="64008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398678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Active devices running outdated software</a:t>
            </a:r>
          </a:p>
        </p:txBody>
      </p:sp>
      <p:sp>
        <p:nvSpPr>
          <p:cNvPr id="44" name="Oval 43"/>
          <p:cNvSpPr/>
          <p:nvPr/>
        </p:nvSpPr>
        <p:spPr>
          <a:xfrm>
            <a:off x="443484" y="4421124"/>
            <a:ext cx="64008" cy="64008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334256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No automated vendor-to-CVE cross-checking</a:t>
            </a:r>
          </a:p>
        </p:txBody>
      </p:sp>
      <p:sp>
        <p:nvSpPr>
          <p:cNvPr id="46" name="Oval 45"/>
          <p:cNvSpPr/>
          <p:nvPr/>
        </p:nvSpPr>
        <p:spPr>
          <a:xfrm>
            <a:off x="443484" y="4768596"/>
            <a:ext cx="64008" cy="64008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4681728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Critical vulnerabilities stay unaddressed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42231" y="3392424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42231" y="3392424"/>
            <a:ext cx="3749039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5111" y="350215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Poppins"/>
              </a:rPr>
              <a:t>No Audit Trail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5111" y="3895344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57115" y="4073652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9703" y="398678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Admin actions on devices go unrecorded</a:t>
            </a:r>
          </a:p>
        </p:txBody>
      </p:sp>
      <p:sp>
        <p:nvSpPr>
          <p:cNvPr id="54" name="Oval 53"/>
          <p:cNvSpPr/>
          <p:nvPr/>
        </p:nvSpPr>
        <p:spPr>
          <a:xfrm>
            <a:off x="4357115" y="4421124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9703" y="4334256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Cannot reconstruct events after an incident</a:t>
            </a:r>
          </a:p>
        </p:txBody>
      </p:sp>
      <p:sp>
        <p:nvSpPr>
          <p:cNvPr id="56" name="Oval 55"/>
          <p:cNvSpPr/>
          <p:nvPr/>
        </p:nvSpPr>
        <p:spPr>
          <a:xfrm>
            <a:off x="4357115" y="4768596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9703" y="4681728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No accountability for trust or block decisions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55862" y="3392424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55862" y="3392424"/>
            <a:ext cx="3749039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38742" y="350215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Poppins"/>
              </a:rPr>
              <a:t>Undetected Traffic Anomalies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38742" y="3895344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70746" y="4073652"/>
            <a:ext cx="64008" cy="6400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3334" y="398678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Port scans and DDoS attempts go unnoticed</a:t>
            </a:r>
          </a:p>
        </p:txBody>
      </p:sp>
      <p:sp>
        <p:nvSpPr>
          <p:cNvPr id="64" name="Oval 63"/>
          <p:cNvSpPr/>
          <p:nvPr/>
        </p:nvSpPr>
        <p:spPr>
          <a:xfrm>
            <a:off x="8270746" y="4421124"/>
            <a:ext cx="64008" cy="6400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3334" y="4334256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No packet-level inspection or baseline profiling</a:t>
            </a:r>
          </a:p>
        </p:txBody>
      </p:sp>
      <p:sp>
        <p:nvSpPr>
          <p:cNvPr id="66" name="Oval 65"/>
          <p:cNvSpPr/>
          <p:nvPr/>
        </p:nvSpPr>
        <p:spPr>
          <a:xfrm>
            <a:off x="8270746" y="4768596"/>
            <a:ext cx="64008" cy="6400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03334" y="4681728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Poppins"/>
              </a:rPr>
              <a:t>Data exfiltration blends into normal traffic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D52"/>
                </a:solidFill>
                <a:latin typeface="Poppins"/>
              </a:rPr>
              <a:t>RECON NDS  ·  Network Device Scanner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91672" y="664768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D52"/>
                </a:solidFill>
                <a:latin typeface="Poppin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12188952" cy="118872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8BDF8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Detection &amp; Security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oppins"/>
              </a:rPr>
              <a:t>Controls that prevent, detect, and respond to cybersecurity threats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7160"/>
            <a:ext cx="2540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1417320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23113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Poppins"/>
              </a:rPr>
              <a:t>Network Scanning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20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0906" y="2027682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9476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Nmap sweep every 15 min or on-demand</a:t>
            </a:r>
          </a:p>
        </p:txBody>
      </p:sp>
      <p:sp>
        <p:nvSpPr>
          <p:cNvPr id="14" name="Oval 13"/>
          <p:cNvSpPr/>
          <p:nvPr/>
        </p:nvSpPr>
        <p:spPr>
          <a:xfrm>
            <a:off x="390906" y="2320290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24028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Discovers IP, MAC, hostname, and vendor</a:t>
            </a:r>
          </a:p>
        </p:txBody>
      </p:sp>
      <p:sp>
        <p:nvSpPr>
          <p:cNvPr id="16" name="Oval 15"/>
          <p:cNvSpPr/>
          <p:nvPr/>
        </p:nvSpPr>
        <p:spPr>
          <a:xfrm>
            <a:off x="390906" y="2612898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53288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Fallback ping scan if Nmap is unavailable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87752" y="1417320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7752" y="1417320"/>
            <a:ext cx="2231136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1508760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Poppins"/>
              </a:rPr>
              <a:t>Unknown Device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4912" y="1874520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50058" y="2027682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9476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New MAC address flagged as Unknown instantly</a:t>
            </a:r>
          </a:p>
        </p:txBody>
      </p:sp>
      <p:sp>
        <p:nvSpPr>
          <p:cNvPr id="24" name="Oval 23"/>
          <p:cNvSpPr/>
          <p:nvPr/>
        </p:nvSpPr>
        <p:spPr>
          <a:xfrm>
            <a:off x="2750058" y="2320290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224028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Dashboard alert fired before admin action</a:t>
            </a:r>
          </a:p>
        </p:txBody>
      </p:sp>
      <p:sp>
        <p:nvSpPr>
          <p:cNvPr id="26" name="Oval 25"/>
          <p:cNvSpPr/>
          <p:nvPr/>
        </p:nvSpPr>
        <p:spPr>
          <a:xfrm>
            <a:off x="2750058" y="2612898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253288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Async port scan queued for enrichment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46904" y="1417320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46904" y="1417320"/>
            <a:ext cx="2231136" cy="36576"/>
          </a:xfrm>
          <a:prstGeom prst="rect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1508760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8CFF"/>
                </a:solidFill>
                <a:latin typeface="Poppins"/>
              </a:rPr>
              <a:t>Port Scan &amp; Device Profiling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84064" y="1874520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09210" y="2027682"/>
            <a:ext cx="59436" cy="59436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9512" y="19476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Top-100 port scan per unknown device</a:t>
            </a:r>
          </a:p>
        </p:txBody>
      </p:sp>
      <p:sp>
        <p:nvSpPr>
          <p:cNvPr id="34" name="Oval 33"/>
          <p:cNvSpPr/>
          <p:nvPr/>
        </p:nvSpPr>
        <p:spPr>
          <a:xfrm>
            <a:off x="5109210" y="2320290"/>
            <a:ext cx="59436" cy="59436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9512" y="224028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Services mapped: HTTP, SSH, SMB, RDP</a:t>
            </a:r>
          </a:p>
        </p:txBody>
      </p:sp>
      <p:sp>
        <p:nvSpPr>
          <p:cNvPr id="36" name="Oval 35"/>
          <p:cNvSpPr/>
          <p:nvPr/>
        </p:nvSpPr>
        <p:spPr>
          <a:xfrm>
            <a:off x="5109210" y="2612898"/>
            <a:ext cx="59436" cy="59436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9512" y="253288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Heuristics classify: router / server / printer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06056" y="1417320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06056" y="1417320"/>
            <a:ext cx="2231136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3216" y="1508760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Poppins"/>
              </a:rPr>
              <a:t>ARP Spoofing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43216" y="1874520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68362" y="2027682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98664" y="19476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Real-time MAC vs trusted registry comparison</a:t>
            </a:r>
          </a:p>
        </p:txBody>
      </p:sp>
      <p:sp>
        <p:nvSpPr>
          <p:cNvPr id="44" name="Oval 43"/>
          <p:cNvSpPr/>
          <p:nvPr/>
        </p:nvSpPr>
        <p:spPr>
          <a:xfrm>
            <a:off x="7468362" y="2320290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98664" y="224028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Mismatch triggers CRITICAL WebSocket alert</a:t>
            </a:r>
          </a:p>
        </p:txBody>
      </p:sp>
      <p:sp>
        <p:nvSpPr>
          <p:cNvPr id="46" name="Oval 45"/>
          <p:cNvSpPr/>
          <p:nvPr/>
        </p:nvSpPr>
        <p:spPr>
          <a:xfrm>
            <a:off x="7468362" y="2612898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98664" y="253288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Admin can isolate the node immediately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65208" y="1417320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65208" y="1417320"/>
            <a:ext cx="2231136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02368" y="1508760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Poppins"/>
              </a:rPr>
              <a:t>Passive Network Sniffer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02368" y="1874520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827514" y="2027682"/>
            <a:ext cx="59436" cy="594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57816" y="194767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Scapy captures live packet traffic on LAN</a:t>
            </a:r>
          </a:p>
        </p:txBody>
      </p:sp>
      <p:sp>
        <p:nvSpPr>
          <p:cNvPr id="54" name="Oval 53"/>
          <p:cNvSpPr/>
          <p:nvPr/>
        </p:nvSpPr>
        <p:spPr>
          <a:xfrm>
            <a:off x="9827514" y="2320290"/>
            <a:ext cx="59436" cy="594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57816" y="224028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Feeds data into the anomaly detection engine</a:t>
            </a:r>
          </a:p>
        </p:txBody>
      </p:sp>
      <p:sp>
        <p:nvSpPr>
          <p:cNvPr id="56" name="Oval 55"/>
          <p:cNvSpPr/>
          <p:nvPr/>
        </p:nvSpPr>
        <p:spPr>
          <a:xfrm>
            <a:off x="9827514" y="2612898"/>
            <a:ext cx="59436" cy="594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57816" y="253288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Zero configuration — runs at startup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" y="3008376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8600" y="3008376"/>
            <a:ext cx="2231136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09981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Poppins"/>
              </a:rPr>
              <a:t>Anomaly Detection Engine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465576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90906" y="3618738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" y="353872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Statistical baseline per device established</a:t>
            </a:r>
          </a:p>
        </p:txBody>
      </p:sp>
      <p:sp>
        <p:nvSpPr>
          <p:cNvPr id="64" name="Oval 63"/>
          <p:cNvSpPr/>
          <p:nvPr/>
        </p:nvSpPr>
        <p:spPr>
          <a:xfrm>
            <a:off x="390906" y="3911346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1208" y="383133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Flags volume spikes and repeated failures</a:t>
            </a:r>
          </a:p>
        </p:txBody>
      </p:sp>
      <p:sp>
        <p:nvSpPr>
          <p:cNvPr id="66" name="Oval 65"/>
          <p:cNvSpPr/>
          <p:nvPr/>
        </p:nvSpPr>
        <p:spPr>
          <a:xfrm>
            <a:off x="390906" y="4203954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1208" y="41239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Alerts stored as persistent network events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87752" y="3008376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87752" y="3008376"/>
            <a:ext cx="223113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24912" y="309981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Poppins"/>
              </a:rPr>
              <a:t>JWT Auth &amp; RBAC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24912" y="3465576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50058" y="3618738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80360" y="353872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Roles: Super Admin · IT Admin · Staff</a:t>
            </a:r>
          </a:p>
        </p:txBody>
      </p:sp>
      <p:sp>
        <p:nvSpPr>
          <p:cNvPr id="74" name="Oval 73"/>
          <p:cNvSpPr/>
          <p:nvPr/>
        </p:nvSpPr>
        <p:spPr>
          <a:xfrm>
            <a:off x="2750058" y="3911346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80360" y="383133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Least-privilege enforcement on all endpoints</a:t>
            </a:r>
          </a:p>
        </p:txBody>
      </p:sp>
      <p:sp>
        <p:nvSpPr>
          <p:cNvPr id="76" name="Oval 75"/>
          <p:cNvSpPr/>
          <p:nvPr/>
        </p:nvSpPr>
        <p:spPr>
          <a:xfrm>
            <a:off x="2750058" y="4203954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80360" y="41239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Staff restricted to own device records only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946904" y="3008376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46904" y="3008376"/>
            <a:ext cx="2231136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84064" y="309981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Poppins"/>
              </a:rPr>
              <a:t>Security Headers &amp; Rate Limiting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84064" y="3465576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109210" y="3618738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39512" y="353872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CSP, X-Frame-Options, XSS-Protection set</a:t>
            </a:r>
          </a:p>
        </p:txBody>
      </p:sp>
      <p:sp>
        <p:nvSpPr>
          <p:cNvPr id="84" name="Oval 83"/>
          <p:cNvSpPr/>
          <p:nvPr/>
        </p:nvSpPr>
        <p:spPr>
          <a:xfrm>
            <a:off x="5109210" y="3911346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39512" y="383133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200 requests / minute cap via SlowAPI</a:t>
            </a:r>
          </a:p>
        </p:txBody>
      </p:sp>
      <p:sp>
        <p:nvSpPr>
          <p:cNvPr id="86" name="Oval 85"/>
          <p:cNvSpPr/>
          <p:nvPr/>
        </p:nvSpPr>
        <p:spPr>
          <a:xfrm>
            <a:off x="5109210" y="4203954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39512" y="41239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Blocks brute-force and injection attempts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06056" y="3008376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06056" y="3008376"/>
            <a:ext cx="2231136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43216" y="309981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Poppins"/>
              </a:rPr>
              <a:t>CVE Vulnerability Correlation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43216" y="3465576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468362" y="3618738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98664" y="353872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Vendor strings matched to NVD CVE database</a:t>
            </a:r>
          </a:p>
        </p:txBody>
      </p:sp>
      <p:sp>
        <p:nvSpPr>
          <p:cNvPr id="94" name="Oval 93"/>
          <p:cNvSpPr/>
          <p:nvPr/>
        </p:nvSpPr>
        <p:spPr>
          <a:xfrm>
            <a:off x="7468362" y="3911346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98664" y="383133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Highlights critical CVEs for active devices</a:t>
            </a:r>
          </a:p>
        </p:txBody>
      </p:sp>
      <p:sp>
        <p:nvSpPr>
          <p:cNvPr id="96" name="Oval 95"/>
          <p:cNvSpPr/>
          <p:nvPr/>
        </p:nvSpPr>
        <p:spPr>
          <a:xfrm>
            <a:off x="7468362" y="4203954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98664" y="41239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Links to official advisory for patching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665208" y="3008376"/>
            <a:ext cx="2231136" cy="146304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665208" y="3008376"/>
            <a:ext cx="2231136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802368" y="309981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Poppins"/>
              </a:rPr>
              <a:t>Immutable Audit Logging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02368" y="3465576"/>
            <a:ext cx="1956816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827514" y="3618738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57816" y="353872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Logs: login, scan, trust toggle, block, delete</a:t>
            </a:r>
          </a:p>
        </p:txBody>
      </p:sp>
      <p:sp>
        <p:nvSpPr>
          <p:cNvPr id="104" name="Oval 103"/>
          <p:cNvSpPr/>
          <p:nvPr/>
        </p:nvSpPr>
        <p:spPr>
          <a:xfrm>
            <a:off x="9827514" y="3911346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957816" y="383133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Fields: user, role, IP, timestamp, action</a:t>
            </a:r>
          </a:p>
        </p:txBody>
      </p:sp>
      <p:sp>
        <p:nvSpPr>
          <p:cNvPr id="106" name="Oval 105"/>
          <p:cNvSpPr/>
          <p:nvPr/>
        </p:nvSpPr>
        <p:spPr>
          <a:xfrm>
            <a:off x="9827514" y="4203954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57816" y="41239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Poppins"/>
              </a:rPr>
              <a:t>Read-only — no role can modify logs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D52"/>
                </a:solidFill>
                <a:latin typeface="Poppins"/>
              </a:rPr>
              <a:t>RECON NDS  ·  Network Device Scanner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91672" y="664768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D52"/>
                </a:solidFill>
                <a:latin typeface="Poppin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12188952" cy="118872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08CFF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Deployment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oppins"/>
              </a:rPr>
              <a:t>System architecture and how Recon NDS is deployed within the organization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7160"/>
            <a:ext cx="25400" cy="914400"/>
          </a:xfrm>
          <a:prstGeom prst="rect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2852928"/>
            <a:ext cx="164592" cy="1905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23440" y="2835021"/>
            <a:ext cx="54864" cy="54864"/>
          </a:xfrm>
          <a:prstGeom prst="ellipse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67328" y="2852928"/>
            <a:ext cx="237744" cy="1905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52240" y="2835021"/>
            <a:ext cx="54864" cy="54864"/>
          </a:xfrm>
          <a:prstGeom prst="ellipse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2852928"/>
            <a:ext cx="374904" cy="1905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18200" y="2835021"/>
            <a:ext cx="54864" cy="54864"/>
          </a:xfrm>
          <a:prstGeom prst="ellipse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62088" y="2852928"/>
            <a:ext cx="557784" cy="1905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67040" y="2835021"/>
            <a:ext cx="54864" cy="54864"/>
          </a:xfrm>
          <a:prstGeom prst="ellipse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10928" y="2852928"/>
            <a:ext cx="420624" cy="1905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78720" y="2835021"/>
            <a:ext cx="54864" cy="54864"/>
          </a:xfrm>
          <a:prstGeom prst="ellipse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3774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101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87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Poppins"/>
              </a:rPr>
              <a:t>Internet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80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Poppins"/>
              </a:rPr>
              <a:t>External traffic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23774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2487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7171"/>
                </a:solidFill>
                <a:latin typeface="Poppins"/>
              </a:rPr>
              <a:t>Firewall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880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Poppins"/>
              </a:rPr>
              <a:t>Perimeter defense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23774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10160">
            <a:solidFill>
              <a:srgbClr val="6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487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8CFF"/>
                </a:solidFill>
                <a:latin typeface="Poppins"/>
              </a:rPr>
              <a:t>Core Switch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880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Poppins"/>
              </a:rPr>
              <a:t>LAN backbone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3774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2487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Poppins"/>
              </a:rPr>
              <a:t>Recon 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880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Poppins"/>
              </a:rPr>
              <a:t>FastAPI + SQLite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3774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487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Poppins"/>
              </a:rPr>
              <a:t>Admin Panel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880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Poppins"/>
              </a:rPr>
              <a:t>Browser / HTTPS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237744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487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Poppins"/>
              </a:rPr>
              <a:t>Cloudflare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28803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Poppins"/>
              </a:rPr>
              <a:t>HTTPS Tunnel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611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Poppins"/>
              </a:rPr>
              <a:t>Connected Devices on LAN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3977639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977639"/>
            <a:ext cx="1874519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404164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  <a:latin typeface="Poppins"/>
              </a:rPr>
              <a:t>Workstations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12847" y="3977639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12847" y="3977639"/>
            <a:ext cx="1874519" cy="36576"/>
          </a:xfrm>
          <a:prstGeom prst="rect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12847" y="404164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8CFF"/>
                </a:solidFill>
                <a:latin typeface="Poppins"/>
              </a:rPr>
              <a:t>Mobile Devices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7094" y="3977639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97094" y="3977639"/>
            <a:ext cx="1874519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97094" y="404164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Poppins"/>
              </a:rPr>
              <a:t>Printers / IoT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1" y="3977639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341" y="3977639"/>
            <a:ext cx="1874519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81341" y="404164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Poppins"/>
              </a:rPr>
              <a:t>Wi-Fi Access Point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65588" y="3977639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65588" y="3977639"/>
            <a:ext cx="1874519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65588" y="404164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87171"/>
                </a:solidFill>
                <a:latin typeface="Poppins"/>
              </a:rPr>
              <a:t>Unknown Devices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49835" y="3977639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49835" y="3977639"/>
            <a:ext cx="1874519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35" y="404164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Poppins"/>
              </a:rPr>
              <a:t>Servers / NAS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28032" y="3355848"/>
            <a:ext cx="19050" cy="621792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4754880"/>
            <a:ext cx="11731752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Poppins"/>
              </a:rPr>
              <a:t>Security Mechanisms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Poppins"/>
              </a:rPr>
              <a:t>HTTPS / TLS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19072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92224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08CFF"/>
                </a:solidFill>
                <a:latin typeface="Poppins"/>
              </a:rPr>
              <a:t>JWT + RBAC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9544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82696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78BFA"/>
                </a:solidFill>
                <a:latin typeface="Poppins"/>
              </a:rPr>
              <a:t>Rate Limiting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00016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73168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  <a:latin typeface="Poppins"/>
              </a:rPr>
              <a:t>Security Headers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90488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Poppins"/>
              </a:rPr>
              <a:t>Cloudflare Tunnel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80960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54112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87171"/>
                </a:solidFill>
                <a:latin typeface="Poppins"/>
              </a:rPr>
              <a:t>WebSocket Alerts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71432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44584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Poppins"/>
              </a:rPr>
              <a:t>Nmap Port Scan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61904" y="5257800"/>
            <a:ext cx="1389888" cy="475488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508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35056" y="532180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Poppins"/>
              </a:rPr>
              <a:t>Audit Logs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" y="589788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D52"/>
                </a:solidFill>
                <a:latin typeface="Poppins"/>
              </a:rPr>
              <a:t>Deployment Environment:  Business / Company LAN  ·  Windows Server  ·  Local Network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D52"/>
                </a:solidFill>
                <a:latin typeface="Poppins"/>
              </a:rPr>
              <a:t>RECON NDS  ·  Network Device Scanner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91672" y="664768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D52"/>
                </a:solidFill>
                <a:latin typeface="Poppins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"/>
            <a:ext cx="12188952" cy="118872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4D399"/>
                </a:solidFill>
                <a:latin typeface="Poppi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Security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21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oppins"/>
              </a:rPr>
              <a:t>How Recon NDS mitigates each identified threat — demonstrated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7160"/>
            <a:ext cx="25400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146304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3749039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Poppins"/>
              </a:rPr>
              <a:t>1.  Scan &amp; Discover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56816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5770" y="2105406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2996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Admin triggers a scan or scheduler fires</a:t>
            </a:r>
          </a:p>
        </p:txBody>
      </p:sp>
      <p:sp>
        <p:nvSpPr>
          <p:cNvPr id="14" name="Oval 13"/>
          <p:cNvSpPr/>
          <p:nvPr/>
        </p:nvSpPr>
        <p:spPr>
          <a:xfrm>
            <a:off x="445770" y="2379726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30428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All LAN hosts enumerated with IP, MAC, vendor</a:t>
            </a:r>
          </a:p>
        </p:txBody>
      </p:sp>
      <p:sp>
        <p:nvSpPr>
          <p:cNvPr id="16" name="Oval 15"/>
          <p:cNvSpPr/>
          <p:nvPr/>
        </p:nvSpPr>
        <p:spPr>
          <a:xfrm>
            <a:off x="445770" y="2654046"/>
            <a:ext cx="59436" cy="594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57860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Results written to the device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1" y="146304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2231" y="1463040"/>
            <a:ext cx="3749039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1" y="157276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Poppins"/>
              </a:rPr>
              <a:t>2.  Unknown Device Alert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1" y="1956816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59401" y="2105406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3" y="202996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New MAC address triggers an instant alert</a:t>
            </a:r>
          </a:p>
        </p:txBody>
      </p:sp>
      <p:sp>
        <p:nvSpPr>
          <p:cNvPr id="24" name="Oval 23"/>
          <p:cNvSpPr/>
          <p:nvPr/>
        </p:nvSpPr>
        <p:spPr>
          <a:xfrm>
            <a:off x="4359401" y="2379726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9703" y="230428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Dashboard highlights the unrecognized device</a:t>
            </a:r>
          </a:p>
        </p:txBody>
      </p:sp>
      <p:sp>
        <p:nvSpPr>
          <p:cNvPr id="26" name="Oval 25"/>
          <p:cNvSpPr/>
          <p:nvPr/>
        </p:nvSpPr>
        <p:spPr>
          <a:xfrm>
            <a:off x="4359401" y="2654046"/>
            <a:ext cx="59436" cy="594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3" y="257860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Async port scan enriches the device profile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5862" y="146304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55862" y="1463040"/>
            <a:ext cx="3749039" cy="36576"/>
          </a:xfrm>
          <a:prstGeom prst="rect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2" y="157276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8CFF"/>
                </a:solidFill>
                <a:latin typeface="Poppins"/>
              </a:rPr>
              <a:t>3.  Admin Review &amp;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2" y="1956816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3032" y="2105406"/>
            <a:ext cx="59436" cy="59436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4" y="202996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Admin verifies ownership and assigns metadata</a:t>
            </a:r>
          </a:p>
        </p:txBody>
      </p:sp>
      <p:sp>
        <p:nvSpPr>
          <p:cNvPr id="34" name="Oval 33"/>
          <p:cNvSpPr/>
          <p:nvPr/>
        </p:nvSpPr>
        <p:spPr>
          <a:xfrm>
            <a:off x="8273032" y="2379726"/>
            <a:ext cx="59436" cy="59436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4" y="230428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Approve sets is_trusted = 1 for that device</a:t>
            </a:r>
          </a:p>
        </p:txBody>
      </p:sp>
      <p:sp>
        <p:nvSpPr>
          <p:cNvPr id="36" name="Oval 35"/>
          <p:cNvSpPr/>
          <p:nvPr/>
        </p:nvSpPr>
        <p:spPr>
          <a:xfrm>
            <a:off x="8273032" y="2654046"/>
            <a:ext cx="59436" cy="59436"/>
          </a:xfrm>
          <a:prstGeom prst="ellipse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4" y="2578608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Block flags MAC and updates status to Blocked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3044952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" y="3044952"/>
            <a:ext cx="3749039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1546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Poppins"/>
              </a:rPr>
              <a:t>4.  ARP Spoofing Response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538728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5770" y="3687318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361188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WebSocket detects MAC mismatch at trusted IP</a:t>
            </a:r>
          </a:p>
        </p:txBody>
      </p:sp>
      <p:sp>
        <p:nvSpPr>
          <p:cNvPr id="44" name="Oval 43"/>
          <p:cNvSpPr/>
          <p:nvPr/>
        </p:nvSpPr>
        <p:spPr>
          <a:xfrm>
            <a:off x="445770" y="3961638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388620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CRITICAL alert shown in real time on dashboard</a:t>
            </a:r>
          </a:p>
        </p:txBody>
      </p:sp>
      <p:sp>
        <p:nvSpPr>
          <p:cNvPr id="46" name="Oval 45"/>
          <p:cNvSpPr/>
          <p:nvPr/>
        </p:nvSpPr>
        <p:spPr>
          <a:xfrm>
            <a:off x="445770" y="4235958"/>
            <a:ext cx="59436" cy="594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416052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Admin clicks Isolate to quarantine the device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42231" y="3044952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42231" y="3044952"/>
            <a:ext cx="3749039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5111" y="31546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Poppins"/>
              </a:rPr>
              <a:t>5.  CVE &amp; Vulnerability Check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5111" y="3538728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59401" y="3687318"/>
            <a:ext cx="59436" cy="594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9703" y="361188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Device vendor matched against NVD database</a:t>
            </a:r>
          </a:p>
        </p:txBody>
      </p:sp>
      <p:sp>
        <p:nvSpPr>
          <p:cNvPr id="54" name="Oval 53"/>
          <p:cNvSpPr/>
          <p:nvPr/>
        </p:nvSpPr>
        <p:spPr>
          <a:xfrm>
            <a:off x="4359401" y="3961638"/>
            <a:ext cx="59436" cy="594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9703" y="388620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Active devices with critical CVEs flagged</a:t>
            </a:r>
          </a:p>
        </p:txBody>
      </p:sp>
      <p:sp>
        <p:nvSpPr>
          <p:cNvPr id="56" name="Oval 55"/>
          <p:cNvSpPr/>
          <p:nvPr/>
        </p:nvSpPr>
        <p:spPr>
          <a:xfrm>
            <a:off x="4359401" y="4235958"/>
            <a:ext cx="59436" cy="594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9703" y="416052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Admin notified to patch or isolate at risk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55862" y="3044952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55862" y="3044952"/>
            <a:ext cx="3749039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38742" y="31546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Poppins"/>
              </a:rPr>
              <a:t>6.  Audit &amp; Reporting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38742" y="3538728"/>
            <a:ext cx="3383279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73032" y="3687318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3334" y="361188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Every action logged with user, IP, timestamp</a:t>
            </a:r>
          </a:p>
        </p:txBody>
      </p:sp>
      <p:sp>
        <p:nvSpPr>
          <p:cNvPr id="64" name="Oval 63"/>
          <p:cNvSpPr/>
          <p:nvPr/>
        </p:nvSpPr>
        <p:spPr>
          <a:xfrm>
            <a:off x="8273032" y="3961638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3334" y="388620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Reports exported as PDF or CSV on demand</a:t>
            </a:r>
          </a:p>
        </p:txBody>
      </p:sp>
      <p:sp>
        <p:nvSpPr>
          <p:cNvPr id="66" name="Oval 65"/>
          <p:cNvSpPr/>
          <p:nvPr/>
        </p:nvSpPr>
        <p:spPr>
          <a:xfrm>
            <a:off x="8273032" y="4235958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03334" y="4160520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Logs are immutable — tamper-evident trail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4983480"/>
            <a:ext cx="11731752" cy="12700"/>
          </a:xfrm>
          <a:prstGeom prst="rect">
            <a:avLst/>
          </a:prstGeom>
          <a:solidFill>
            <a:srgbClr val="2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28600" y="5074920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8600" y="5074920"/>
            <a:ext cx="3794760" cy="36576"/>
          </a:xfrm>
          <a:prstGeom prst="rect">
            <a:avLst/>
          </a:prstGeom>
          <a:solidFill>
            <a:srgbClr val="6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51663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8CFF"/>
                </a:solidFill>
                <a:latin typeface="Poppins"/>
              </a:rPr>
              <a:t>Confidentiality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55138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JWT auth · RBAC · HTTPS · Security headers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87952" y="5074920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87952" y="5074920"/>
            <a:ext cx="37947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70832" y="51663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Poppins"/>
              </a:rPr>
              <a:t>Integrity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0832" y="55138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Immutable logs · MAC binding · Trust registry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47304" y="5074920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1A2030"/>
          </a:solidFill>
          <a:ln w="6350">
            <a:solidFill>
              <a:srgbClr val="2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47304" y="5074920"/>
            <a:ext cx="3794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30184" y="51663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Poppins"/>
              </a:rPr>
              <a:t>Availability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30184" y="55138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Poppins"/>
              </a:rPr>
              <a:t>15-min scans · Rate limiting · WebSocket uptime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3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66476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D52"/>
                </a:solidFill>
                <a:latin typeface="Poppins"/>
              </a:rPr>
              <a:t>RECON NDS  ·  Network Device Scanner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91672" y="664768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D52"/>
                </a:solidFill>
                <a:latin typeface="Poppin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